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1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6.xml" ContentType="application/vnd.openxmlformats-officedocument.presentationml.slide+xml"/>
  <Override PartName="/ppt/slides/slide12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E63F540C-51D5-4BC1-8A57-1AF40EB00F7A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8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CB3C6C26-AA47-4785-A7DD-19FA7F29E432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Closing slide. Add the Google Form URL and a contact email before sharing. Edition 2 organising team for reference: Language AI - Sourabh Tiwari, Gaurav, Sanjeeth Pothireddy, Gorang Maniar; PRISM - Binny Lakra, Prakhar Chandrakar, Vishu Kumar; Kick-off and mentors - Giridhar Jakki, Deepraj Prabhakar Patkar (Language AI), Srimanu Prasad Nagaraju, Ashish Kumar (Tech Strategy).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9BF714A-9886-4C0A-974E-20AD395DB003}" type="slidenum"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_WITH_CAPTION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>
              <a:buNone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pic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 anchorCtr="1">
            <a:noAutofit/>
          </a:bodyPr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Double-click to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add an Image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lnSpcReduction="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CD17835-EE97-486E-9BBE-F3B5660B997E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VERTICAL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edit the 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title 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text 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 rot="5400000">
            <a:off x="3920400" y="-1256400"/>
            <a:ext cx="4350960" cy="10515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430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78FE5C54-1F98-4F0F-BE4F-08D7BA9D0528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_TITLE_AND_VERTICAL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 rot="5400000">
            <a:off x="7133400" y="1956240"/>
            <a:ext cx="5811480" cy="2628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 rot="5400000">
            <a:off x="1800000" y="-596160"/>
            <a:ext cx="5811480" cy="7733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430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1712E3CC-E218-43E8-888A-7B089FB93B08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OBJEC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430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D7B297B0-7145-47E1-93C8-55A82005CF4F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>
              <a:buNone/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6138D99-FA12-4D6F-ABE3-C5DFFD372B15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>
              <a:buNone/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475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9A33A2FA-E42E-4332-8CA7-4B922B795149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_OBJECTS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5000" lnSpcReduction="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430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5000" lnSpcReduction="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430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B1FD0C8-D50D-4CAA-ACC3-A1E50057D998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WO_OBJECTS_WITH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2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430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2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430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6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7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8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227C10A8-E078-4FDC-AF9A-D466929B718B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2C7D5C1-A90F-44BC-B87B-E7023166CFA3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171AA05A-2ABE-4811-8F75-389DACE89A70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BJECT_WITH_CAPTION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>
              <a:buNone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lnSpcReduction="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43164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40644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808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5568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556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556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556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lnSpcReduction="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6EF6E555-E60E-4779-A5CF-D3B3224319B7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90;p1"/>
          <p:cNvSpPr/>
          <p:nvPr/>
        </p:nvSpPr>
        <p:spPr>
          <a:xfrm>
            <a:off x="777240" y="676800"/>
            <a:ext cx="2422800" cy="3470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D3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Google Shape;91;p1"/>
          <p:cNvSpPr/>
          <p:nvPr/>
        </p:nvSpPr>
        <p:spPr>
          <a:xfrm>
            <a:off x="777240" y="676800"/>
            <a:ext cx="24228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6D28D9"/>
                </a:solidFill>
                <a:effectLst/>
                <a:uFillTx/>
                <a:latin typeface="Arial"/>
                <a:ea typeface="Arial"/>
              </a:rPr>
              <a:t>SAMSUNG PRISM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Google Shape;92;p1"/>
          <p:cNvSpPr/>
          <p:nvPr/>
        </p:nvSpPr>
        <p:spPr>
          <a:xfrm>
            <a:off x="777240" y="1207080"/>
            <a:ext cx="612612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5000" b="1" u="none" strike="noStrike">
                <a:solidFill>
                  <a:srgbClr val="14142B"/>
                </a:solidFill>
                <a:effectLst/>
                <a:uFillTx/>
                <a:latin typeface="Arial"/>
                <a:ea typeface="Arial"/>
              </a:rPr>
              <a:t>Generative AI</a:t>
            </a:r>
            <a:endParaRPr lang="en-US" sz="5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Google Shape;93;p1"/>
          <p:cNvSpPr/>
          <p:nvPr/>
        </p:nvSpPr>
        <p:spPr>
          <a:xfrm>
            <a:off x="777240" y="1901880"/>
            <a:ext cx="612612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5000" b="1" u="none" strike="noStrike">
                <a:solidFill>
                  <a:srgbClr val="6D28D9"/>
                </a:solidFill>
                <a:effectLst/>
                <a:uFillTx/>
                <a:latin typeface="Arial"/>
                <a:ea typeface="Arial"/>
              </a:rPr>
              <a:t>Hackathon</a:t>
            </a:r>
            <a:endParaRPr lang="en-US" sz="5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Google Shape;94;p1"/>
          <p:cNvSpPr/>
          <p:nvPr/>
        </p:nvSpPr>
        <p:spPr>
          <a:xfrm>
            <a:off x="777240" y="2724840"/>
            <a:ext cx="6126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4142B"/>
                </a:solidFill>
                <a:effectLst/>
                <a:uFillTx/>
                <a:latin typeface="Arial"/>
                <a:ea typeface="Arial"/>
              </a:rPr>
              <a:t>3rd Edition</a:t>
            </a:r>
            <a:r>
              <a:rPr lang="en-US" sz="2000" b="0" u="none" strike="noStrike">
                <a:solidFill>
                  <a:srgbClr val="63637E"/>
                </a:solidFill>
                <a:effectLst/>
                <a:uFillTx/>
                <a:latin typeface="Calibri"/>
                <a:ea typeface="Calibri"/>
              </a:rPr>
              <a:t>   2026 – 27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Google Shape;95;p1"/>
          <p:cNvSpPr/>
          <p:nvPr/>
        </p:nvSpPr>
        <p:spPr>
          <a:xfrm>
            <a:off x="777240" y="3310200"/>
            <a:ext cx="58518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177840" indent="-177840">
              <a:lnSpc>
                <a:spcPct val="100000"/>
              </a:lnSpc>
              <a:buClr>
                <a:srgbClr val="63637E"/>
              </a:buClr>
              <a:buFont typeface="Calibri"/>
              <a:buChar char="•"/>
            </a:pPr>
            <a:r>
              <a:rPr lang="en-US" sz="1500" b="0" u="none" strike="noStrike">
                <a:solidFill>
                  <a:srgbClr val="63637E"/>
                </a:solidFill>
                <a:effectLst/>
                <a:uFillTx/>
                <a:latin typeface="Calibri"/>
                <a:ea typeface="Calibri"/>
              </a:rPr>
              <a:t>Theme ID - 1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>
              <a:lnSpc>
                <a:spcPct val="100000"/>
              </a:lnSpc>
              <a:spcBef>
                <a:spcPts val="499"/>
              </a:spcBef>
              <a:buClr>
                <a:srgbClr val="63637E"/>
              </a:buClr>
              <a:buFont typeface="Calibri"/>
              <a:buChar char="•"/>
            </a:pPr>
            <a:r>
              <a:rPr lang="en-US" sz="1500" b="0" u="none" strike="noStrike">
                <a:solidFill>
                  <a:srgbClr val="63637E"/>
                </a:solidFill>
                <a:effectLst/>
                <a:uFillTx/>
                <a:latin typeface="Calibri"/>
                <a:ea typeface="Calibri"/>
              </a:rPr>
              <a:t>Team Name - SweetPotato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>
              <a:lnSpc>
                <a:spcPct val="100000"/>
              </a:lnSpc>
              <a:spcBef>
                <a:spcPts val="499"/>
              </a:spcBef>
              <a:buClr>
                <a:srgbClr val="63637E"/>
              </a:buClr>
              <a:buFont typeface="Calibri"/>
              <a:buChar char="•"/>
            </a:pPr>
            <a:r>
              <a:rPr lang="en-US" sz="1500" b="0" u="none" strike="noStrike">
                <a:solidFill>
                  <a:srgbClr val="63637E"/>
                </a:solidFill>
                <a:effectLst/>
                <a:uFillTx/>
                <a:latin typeface="Calibri"/>
                <a:ea typeface="Calibri"/>
              </a:rPr>
              <a:t>College Name – Vellore Institute of Technology, Vellore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>
              <a:lnSpc>
                <a:spcPct val="100000"/>
              </a:lnSpc>
              <a:spcBef>
                <a:spcPts val="499"/>
              </a:spcBef>
              <a:buClr>
                <a:srgbClr val="63637E"/>
              </a:buClr>
              <a:buFont typeface="Calibri"/>
              <a:buChar char="•"/>
            </a:pPr>
            <a:r>
              <a:rPr lang="en-US" sz="1500" b="0" u="none" strike="noStrike">
                <a:solidFill>
                  <a:srgbClr val="63637E"/>
                </a:solidFill>
                <a:effectLst/>
                <a:uFillTx/>
                <a:latin typeface="Calibri"/>
                <a:ea typeface="Calibri"/>
              </a:rPr>
              <a:t>Member Name &amp; Email 1- Prakarti Dubey, prakarti.dubey2006@gmail.com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>
              <a:lnSpc>
                <a:spcPct val="100000"/>
              </a:lnSpc>
              <a:spcBef>
                <a:spcPts val="499"/>
              </a:spcBef>
              <a:buClr>
                <a:srgbClr val="63637E"/>
              </a:buClr>
              <a:buFont typeface="Calibri"/>
              <a:buChar char="•"/>
            </a:pPr>
            <a:r>
              <a:rPr lang="en-US" sz="1500" b="0" u="none" strike="noStrike">
                <a:solidFill>
                  <a:srgbClr val="63637E"/>
                </a:solidFill>
                <a:effectLst/>
                <a:uFillTx/>
                <a:latin typeface="Calibri"/>
                <a:ea typeface="Calibri"/>
              </a:rPr>
              <a:t>Member Name &amp; Email 2- Daksh Arora, daksharora712@gmail.com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>
              <a:lnSpc>
                <a:spcPct val="100000"/>
              </a:lnSpc>
              <a:spcBef>
                <a:spcPts val="499"/>
              </a:spcBef>
              <a:buClr>
                <a:srgbClr val="63637E"/>
              </a:buClr>
              <a:buFont typeface="Calibri"/>
              <a:buChar char="•"/>
            </a:pPr>
            <a:r>
              <a:rPr lang="en-US" sz="1500" b="0" u="none" strike="noStrike">
                <a:solidFill>
                  <a:srgbClr val="63637E"/>
                </a:solidFill>
                <a:effectLst/>
                <a:uFillTx/>
                <a:latin typeface="Calibri"/>
                <a:ea typeface="Calibri"/>
              </a:rPr>
              <a:t>Member Name &amp; Email 3- Anubhav Kayal, kayalanubhav14@gmail.com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>
              <a:lnSpc>
                <a:spcPct val="100000"/>
              </a:lnSpc>
              <a:spcBef>
                <a:spcPts val="499"/>
              </a:spcBef>
              <a:buClr>
                <a:srgbClr val="63637E"/>
              </a:buClr>
              <a:buFont typeface="Calibri"/>
              <a:buChar char="•"/>
            </a:pPr>
            <a:r>
              <a:rPr lang="en-US" sz="1500" b="0" u="none" strike="noStrike">
                <a:solidFill>
                  <a:srgbClr val="63637E"/>
                </a:solidFill>
                <a:effectLst/>
                <a:uFillTx/>
                <a:latin typeface="Calibri"/>
                <a:ea typeface="Calibri"/>
              </a:rPr>
              <a:t>Member Name &amp; Email 4- Reshal Agarwal, reshalagarwal123@gmail.com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>
              <a:lnSpc>
                <a:spcPct val="100000"/>
              </a:lnSpc>
              <a:spcBef>
                <a:spcPts val="499"/>
              </a:spcBef>
              <a:buClr>
                <a:srgbClr val="63637E"/>
              </a:buClr>
              <a:buFont typeface="Calibri"/>
              <a:buChar char="•"/>
            </a:pPr>
            <a:r>
              <a:rPr lang="en-US" sz="1500" b="0" u="none" strike="noStrike">
                <a:solidFill>
                  <a:srgbClr val="63637E"/>
                </a:solidFill>
                <a:effectLst/>
                <a:uFillTx/>
                <a:latin typeface="Calibri"/>
                <a:ea typeface="Calibri"/>
              </a:rPr>
              <a:t>Submission Github link - https://github.com/anubhav-kayal/code-factor-prism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76320">
              <a:lnSpc>
                <a:spcPct val="100000"/>
              </a:lnSpc>
              <a:spcBef>
                <a:spcPts val="499"/>
              </a:spcBef>
              <a:tabLst>
                <a:tab pos="0" algn="l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3" name="Google Shape;96;p1" descr="hero_network.png"/>
          <p:cNvPicPr/>
          <p:nvPr/>
        </p:nvPicPr>
        <p:blipFill>
          <a:blip r:embed="rId1"/>
          <a:stretch/>
        </p:blipFill>
        <p:spPr>
          <a:xfrm>
            <a:off x="7059240" y="1051560"/>
            <a:ext cx="4571640" cy="4571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l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1" u="none" strike="noStrike">
                <a:solidFill>
                  <a:srgbClr val="704EA6"/>
                </a:solidFill>
                <a:effectLst/>
                <a:uFillTx/>
                <a:latin typeface="Calibri"/>
                <a:ea typeface="Calibri"/>
              </a:rPr>
              <a:t>Theme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6" name="TextBox 102"/>
          <p:cNvSpPr/>
          <p:nvPr/>
        </p:nvSpPr>
        <p:spPr>
          <a:xfrm>
            <a:off x="841320" y="1874520"/>
            <a:ext cx="10515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300" b="1" u="none" strike="noStrike">
                <a:solidFill>
                  <a:srgbClr val="6D28D9"/>
                </a:solidFill>
                <a:effectLst/>
                <a:uFillTx/>
                <a:latin typeface="Calibri"/>
                <a:ea typeface="Arial"/>
              </a:rPr>
              <a:t>Theme 1 — CPU-first Code Retrieval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Bef>
                <a:spcPts val="799"/>
              </a:spcBef>
            </a:pPr>
            <a:r>
              <a:rPr lang="en-US" sz="1450" b="0" u="none" strike="noStrike">
                <a:solidFill>
                  <a:srgbClr val="14142B"/>
                </a:solidFill>
                <a:effectLst/>
                <a:uFillTx/>
                <a:latin typeface="Calibri"/>
                <a:ea typeface="Arial"/>
              </a:rPr>
              <a:t>Given a natural-language query and a collection of code snippets, return the snippets ranked by relevance — retrieval only, no generation or explanation.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Rounded Rectangle 103"/>
          <p:cNvSpPr/>
          <p:nvPr/>
        </p:nvSpPr>
        <p:spPr>
          <a:xfrm>
            <a:off x="841320" y="3063240"/>
            <a:ext cx="3346200" cy="1782720"/>
          </a:xfrm>
          <a:prstGeom prst="roundRect">
            <a:avLst>
              <a:gd name="adj" fmla="val 6000"/>
            </a:avLst>
          </a:prstGeom>
          <a:solidFill>
            <a:srgbClr val="F3F0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78" name="Oval 104"/>
          <p:cNvSpPr/>
          <p:nvPr/>
        </p:nvSpPr>
        <p:spPr>
          <a:xfrm>
            <a:off x="932760" y="3218760"/>
            <a:ext cx="456840" cy="456840"/>
          </a:xfrm>
          <a:prstGeom prst="ellipse">
            <a:avLst/>
          </a:prstGeom>
          <a:solidFill>
            <a:srgbClr val="6D28D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79" name="TextBox 105"/>
          <p:cNvSpPr/>
          <p:nvPr/>
        </p:nvSpPr>
        <p:spPr>
          <a:xfrm>
            <a:off x="1408320" y="323712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Box 106"/>
          <p:cNvSpPr/>
          <p:nvPr/>
        </p:nvSpPr>
        <p:spPr>
          <a:xfrm>
            <a:off x="1097280" y="3721680"/>
            <a:ext cx="28890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450" b="1" u="none" strike="noStrike">
                <a:solidFill>
                  <a:srgbClr val="14142B"/>
                </a:solidFill>
                <a:effectLst/>
                <a:uFillTx/>
                <a:latin typeface="Calibri"/>
                <a:ea typeface="Arial"/>
              </a:rPr>
              <a:t>No GPU, anywhere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0000"/>
              </a:lnSpc>
              <a:spcBef>
                <a:spcPts val="400"/>
              </a:spcBef>
            </a:pPr>
            <a:r>
              <a:rPr lang="en-US" sz="1150" b="0" u="none" strike="noStrike">
                <a:solidFill>
                  <a:srgbClr val="63637E"/>
                </a:solidFill>
                <a:effectLst/>
                <a:uFillTx/>
                <a:latin typeface="Calibri"/>
                <a:ea typeface="Arial"/>
              </a:rPr>
              <a:t>Every retriever, encoder and eval run in this project executes on CPU only.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Rounded Rectangle 107"/>
          <p:cNvSpPr/>
          <p:nvPr/>
        </p:nvSpPr>
        <p:spPr>
          <a:xfrm>
            <a:off x="4380120" y="3063240"/>
            <a:ext cx="3346200" cy="1782720"/>
          </a:xfrm>
          <a:prstGeom prst="roundRect">
            <a:avLst>
              <a:gd name="adj" fmla="val 6000"/>
            </a:avLst>
          </a:prstGeom>
          <a:solidFill>
            <a:srgbClr val="F3F0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82" name="Oval 108"/>
          <p:cNvSpPr/>
          <p:nvPr/>
        </p:nvSpPr>
        <p:spPr>
          <a:xfrm>
            <a:off x="4471560" y="3218760"/>
            <a:ext cx="456840" cy="456840"/>
          </a:xfrm>
          <a:prstGeom prst="ellipse">
            <a:avLst/>
          </a:prstGeom>
          <a:solidFill>
            <a:srgbClr val="1F4CD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83" name="TextBox 109"/>
          <p:cNvSpPr/>
          <p:nvPr/>
        </p:nvSpPr>
        <p:spPr>
          <a:xfrm>
            <a:off x="4946760" y="323712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Box 110"/>
          <p:cNvSpPr/>
          <p:nvPr/>
        </p:nvSpPr>
        <p:spPr>
          <a:xfrm>
            <a:off x="4636080" y="3721680"/>
            <a:ext cx="28890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450" b="1" u="none" strike="noStrike">
                <a:solidFill>
                  <a:srgbClr val="14142B"/>
                </a:solidFill>
                <a:effectLst/>
                <a:uFillTx/>
                <a:latin typeface="Calibri"/>
                <a:ea typeface="Arial"/>
              </a:rPr>
              <a:t>Two tracks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0000"/>
              </a:lnSpc>
              <a:spcBef>
                <a:spcPts val="400"/>
              </a:spcBef>
            </a:pPr>
            <a:r>
              <a:rPr lang="en-US" sz="1150" b="0" u="none" strike="noStrike">
                <a:solidFill>
                  <a:srgbClr val="63637E"/>
                </a:solidFill>
                <a:effectLst/>
                <a:uFillTx/>
                <a:latin typeface="Calibri"/>
                <a:ea typeface="Arial"/>
              </a:rPr>
              <a:t>The required AppsRetrieval benchmark, plus a self-defined bonus: version-aware code search across git history.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Rounded Rectangle 111"/>
          <p:cNvSpPr/>
          <p:nvPr/>
        </p:nvSpPr>
        <p:spPr>
          <a:xfrm>
            <a:off x="7918560" y="3063240"/>
            <a:ext cx="3346200" cy="1782720"/>
          </a:xfrm>
          <a:prstGeom prst="roundRect">
            <a:avLst>
              <a:gd name="adj" fmla="val 6000"/>
            </a:avLst>
          </a:prstGeom>
          <a:solidFill>
            <a:srgbClr val="F3F0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86" name="Oval 112"/>
          <p:cNvSpPr/>
          <p:nvPr/>
        </p:nvSpPr>
        <p:spPr>
          <a:xfrm>
            <a:off x="8010000" y="3218760"/>
            <a:ext cx="456840" cy="456840"/>
          </a:xfrm>
          <a:prstGeom prst="ellipse">
            <a:avLst/>
          </a:prstGeom>
          <a:solidFill>
            <a:srgbClr val="0D948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87" name="TextBox 113"/>
          <p:cNvSpPr/>
          <p:nvPr/>
        </p:nvSpPr>
        <p:spPr>
          <a:xfrm>
            <a:off x="8485560" y="323712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Box 114"/>
          <p:cNvSpPr/>
          <p:nvPr/>
        </p:nvSpPr>
        <p:spPr>
          <a:xfrm>
            <a:off x="8174880" y="3721680"/>
            <a:ext cx="28890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450" b="1" u="none" strike="noStrike">
                <a:solidFill>
                  <a:srgbClr val="14142B"/>
                </a:solidFill>
                <a:effectLst/>
                <a:uFillTx/>
                <a:latin typeface="Calibri"/>
                <a:ea typeface="Arial"/>
              </a:rPr>
              <a:t>Official scoring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0000"/>
              </a:lnSpc>
              <a:spcBef>
                <a:spcPts val="400"/>
              </a:spcBef>
            </a:pPr>
            <a:r>
              <a:rPr lang="en-US" sz="1150" b="0" u="none" strike="noStrike">
                <a:solidFill>
                  <a:srgbClr val="63637E"/>
                </a:solidFill>
                <a:effectLst/>
                <a:uFillTx/>
                <a:latin typeface="Calibri"/>
                <a:ea typeface="Arial"/>
              </a:rPr>
              <a:t>Measured through mteb.evaluate — the same harness that scores the leaderboard — not a custom script.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l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1" u="none" strike="noStrike">
                <a:solidFill>
                  <a:srgbClr val="704EA6"/>
                </a:solidFill>
                <a:effectLst/>
                <a:uFillTx/>
                <a:latin typeface="Calibri"/>
                <a:ea typeface="Calibri"/>
              </a:rPr>
              <a:t>Existing Solutions &amp; Gaps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1" name="Rounded Rectangle 108"/>
          <p:cNvSpPr/>
          <p:nvPr/>
        </p:nvSpPr>
        <p:spPr>
          <a:xfrm>
            <a:off x="841320" y="1828800"/>
            <a:ext cx="5074560" cy="4160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D6E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92" name="Rounded Rectangle 109"/>
          <p:cNvSpPr/>
          <p:nvPr/>
        </p:nvSpPr>
        <p:spPr>
          <a:xfrm>
            <a:off x="6282000" y="1828800"/>
            <a:ext cx="5074560" cy="4160160"/>
          </a:xfrm>
          <a:prstGeom prst="roundRect">
            <a:avLst>
              <a:gd name="adj" fmla="val 4000"/>
            </a:avLst>
          </a:prstGeom>
          <a:solidFill>
            <a:srgbClr val="F3F0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93" name="TextBox 110"/>
          <p:cNvSpPr/>
          <p:nvPr/>
        </p:nvSpPr>
        <p:spPr>
          <a:xfrm>
            <a:off x="1115640" y="2011680"/>
            <a:ext cx="4525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500" b="1" u="none" strike="noStrike">
                <a:solidFill>
                  <a:srgbClr val="6D28D9"/>
                </a:solidFill>
                <a:effectLst/>
                <a:uFillTx/>
                <a:latin typeface="Calibri"/>
                <a:ea typeface="Arial"/>
              </a:rPr>
              <a:t>What exists today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Box 111"/>
          <p:cNvSpPr/>
          <p:nvPr/>
        </p:nvSpPr>
        <p:spPr>
          <a:xfrm>
            <a:off x="1115640" y="2468880"/>
            <a:ext cx="4525920" cy="338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182880" indent="-182880">
              <a:lnSpc>
                <a:spcPct val="115000"/>
              </a:lnSpc>
              <a:spcAft>
                <a:spcPts val="1001"/>
              </a:spcAft>
              <a:buClr>
                <a:srgbClr val="704EA6"/>
              </a:buClr>
              <a:buFont typeface="Arial"/>
              <a:buChar char="•"/>
            </a:pPr>
            <a:r>
              <a:rPr lang="en-US" sz="1300" b="1" u="none" strike="noStrike">
                <a:solidFill>
                  <a:srgbClr val="14142B"/>
                </a:solidFill>
                <a:effectLst/>
                <a:uFillTx/>
                <a:latin typeface="Calibri"/>
                <a:ea typeface="Arial"/>
              </a:rPr>
              <a:t>Lexical search (grep, ripgrep, Elasticsearch/BM25) — </a:t>
            </a:r>
            <a:r>
              <a:rPr lang="en-US" sz="1300" b="0" u="none" strike="noStrike">
                <a:solidFill>
                  <a:srgbClr val="14142B"/>
                </a:solidFill>
                <a:effectLst/>
                <a:uFillTx/>
                <a:latin typeface="Calibri"/>
                <a:ea typeface="Arial"/>
              </a:rPr>
              <a:t>fast and simple, but matches words, not meaning. Paraphrased or semantically similar code is invisible to it.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" indent="-182880">
              <a:lnSpc>
                <a:spcPct val="115000"/>
              </a:lnSpc>
              <a:spcAft>
                <a:spcPts val="1001"/>
              </a:spcAft>
              <a:buClr>
                <a:srgbClr val="704EA6"/>
              </a:buClr>
              <a:buFont typeface="Arial"/>
              <a:buChar char="•"/>
            </a:pPr>
            <a:r>
              <a:rPr lang="en-US" sz="1300" b="1" u="none" strike="noStrike">
                <a:solidFill>
                  <a:srgbClr val="14142B"/>
                </a:solidFill>
                <a:effectLst/>
                <a:uFillTx/>
                <a:latin typeface="Calibri"/>
                <a:ea typeface="Arial"/>
              </a:rPr>
              <a:t>Generic dense / code-embedding search — </a:t>
            </a:r>
            <a:r>
              <a:rPr lang="en-US" sz="1300" b="0" u="none" strike="noStrike">
                <a:solidFill>
                  <a:srgbClr val="14142B"/>
                </a:solidFill>
                <a:effectLst/>
                <a:uFillTx/>
                <a:latin typeface="Calibri"/>
                <a:ea typeface="Arial"/>
              </a:rPr>
              <a:t>captures semantics, but the models assume GPU-scale batch inference and are indexed against one snapshot of the code.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" indent="-182880">
              <a:lnSpc>
                <a:spcPct val="115000"/>
              </a:lnSpc>
              <a:spcAft>
                <a:spcPts val="1001"/>
              </a:spcAft>
              <a:buClr>
                <a:srgbClr val="704EA6"/>
              </a:buClr>
              <a:buFont typeface="Arial"/>
              <a:buChar char="•"/>
            </a:pPr>
            <a:r>
              <a:rPr lang="en-US" sz="1300" b="1" u="none" strike="noStrike">
                <a:solidFill>
                  <a:srgbClr val="14142B"/>
                </a:solidFill>
                <a:effectLst/>
                <a:uFillTx/>
                <a:latin typeface="Calibri"/>
                <a:ea typeface="Arial"/>
              </a:rPr>
              <a:t>IDE “go to definition” / symbol search — </a:t>
            </a:r>
            <a:r>
              <a:rPr lang="en-US" sz="1300" b="0" u="none" strike="noStrike">
                <a:solidFill>
                  <a:srgbClr val="14142B"/>
                </a:solidFill>
                <a:effectLst/>
                <a:uFillTx/>
                <a:latin typeface="Calibri"/>
                <a:ea typeface="Arial"/>
              </a:rPr>
              <a:t>structurally precise, but requires already knowing the right name; not a natural-language interface.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Box 112"/>
          <p:cNvSpPr/>
          <p:nvPr/>
        </p:nvSpPr>
        <p:spPr>
          <a:xfrm>
            <a:off x="6556320" y="2011680"/>
            <a:ext cx="4525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500" b="1" u="none" strike="noStrike">
                <a:solidFill>
                  <a:srgbClr val="6D28D9"/>
                </a:solidFill>
                <a:effectLst/>
                <a:uFillTx/>
                <a:latin typeface="Calibri"/>
                <a:ea typeface="Arial"/>
              </a:rPr>
              <a:t>The gaps we target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Box 113"/>
          <p:cNvSpPr/>
          <p:nvPr/>
        </p:nvSpPr>
        <p:spPr>
          <a:xfrm>
            <a:off x="6556320" y="2468880"/>
            <a:ext cx="4525920" cy="338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182880" indent="-182880">
              <a:lnSpc>
                <a:spcPct val="115000"/>
              </a:lnSpc>
              <a:spcAft>
                <a:spcPts val="1001"/>
              </a:spcAft>
              <a:buClr>
                <a:srgbClr val="6D28D9"/>
              </a:buClr>
              <a:buFont typeface="Arial"/>
              <a:buChar char="•"/>
            </a:pPr>
            <a:r>
              <a:rPr lang="en-US" sz="1300" b="1" u="none" strike="noStrike">
                <a:solidFill>
                  <a:srgbClr val="14142B"/>
                </a:solidFill>
                <a:effectLst/>
                <a:uFillTx/>
                <a:latin typeface="Calibri"/>
                <a:ea typeface="Arial"/>
              </a:rPr>
              <a:t>GPU dependency — </a:t>
            </a:r>
            <a:r>
              <a:rPr lang="en-US" sz="1300" b="0" u="none" strike="noStrike">
                <a:solidFill>
                  <a:srgbClr val="14142B"/>
                </a:solidFill>
                <a:effectLst/>
                <a:uFillTx/>
                <a:latin typeface="Calibri"/>
                <a:ea typeface="Arial"/>
              </a:rPr>
              <a:t>most code-embedding models assume a GPU is available; hard to deploy cheaply or on-prem.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" indent="-182880">
              <a:lnSpc>
                <a:spcPct val="115000"/>
              </a:lnSpc>
              <a:spcAft>
                <a:spcPts val="1001"/>
              </a:spcAft>
              <a:buClr>
                <a:srgbClr val="6D28D9"/>
              </a:buClr>
              <a:buFont typeface="Arial"/>
              <a:buChar char="•"/>
            </a:pPr>
            <a:r>
              <a:rPr lang="en-US" sz="1300" b="1" u="none" strike="noStrike">
                <a:solidFill>
                  <a:srgbClr val="14142B"/>
                </a:solidFill>
                <a:effectLst/>
                <a:uFillTx/>
                <a:latin typeface="Calibri"/>
                <a:ea typeface="Arial"/>
              </a:rPr>
              <a:t>Snapshot blindness — </a:t>
            </a:r>
            <a:r>
              <a:rPr lang="en-US" sz="1300" b="0" u="none" strike="noStrike">
                <a:solidFill>
                  <a:srgbClr val="14142B"/>
                </a:solidFill>
                <a:effectLst/>
                <a:uFillTx/>
                <a:latin typeface="Calibri"/>
                <a:ea typeface="Arial"/>
              </a:rPr>
              <a:t>almost everything indexes HEAD only. Nobody answers “which version of this function did X”.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" indent="-182880">
              <a:lnSpc>
                <a:spcPct val="115000"/>
              </a:lnSpc>
              <a:spcAft>
                <a:spcPts val="1001"/>
              </a:spcAft>
              <a:buClr>
                <a:srgbClr val="6D28D9"/>
              </a:buClr>
              <a:buFont typeface="Arial"/>
              <a:buChar char="•"/>
            </a:pPr>
            <a:r>
              <a:rPr lang="en-US" sz="1300" b="1" u="none" strike="noStrike">
                <a:solidFill>
                  <a:srgbClr val="14142B"/>
                </a:solidFill>
                <a:effectLst/>
                <a:uFillTx/>
                <a:latin typeface="Calibri"/>
                <a:ea typeface="Arial"/>
              </a:rPr>
              <a:t>Wasteful re-indexing — </a:t>
            </a:r>
            <a:r>
              <a:rPr lang="en-US" sz="1300" b="0" u="none" strike="noStrike">
                <a:solidFill>
                  <a:srgbClr val="14142B"/>
                </a:solidFill>
                <a:effectLst/>
                <a:uFillTx/>
                <a:latin typeface="Calibri"/>
                <a:ea typeface="Arial"/>
              </a:rPr>
              <a:t>re-embedding an entire repo on every commit, when most code hasn't changed.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" indent="-182880">
              <a:lnSpc>
                <a:spcPct val="115000"/>
              </a:lnSpc>
              <a:spcAft>
                <a:spcPts val="1001"/>
              </a:spcAft>
              <a:buClr>
                <a:srgbClr val="6D28D9"/>
              </a:buClr>
              <a:buFont typeface="Arial"/>
              <a:buChar char="•"/>
            </a:pPr>
            <a:r>
              <a:rPr lang="en-US" sz="1300" b="1" u="none" strike="noStrike">
                <a:solidFill>
                  <a:srgbClr val="14142B"/>
                </a:solidFill>
                <a:effectLst/>
                <a:uFillTx/>
                <a:latin typeface="Calibri"/>
                <a:ea typeface="Arial"/>
              </a:rPr>
              <a:t>Non-comparable evaluation — </a:t>
            </a:r>
            <a:r>
              <a:rPr lang="en-US" sz="1300" b="0" u="none" strike="noStrike">
                <a:solidFill>
                  <a:srgbClr val="14142B"/>
                </a:solidFill>
                <a:effectLst/>
                <a:uFillTx/>
                <a:latin typeface="Calibri"/>
                <a:ea typeface="Arial"/>
              </a:rPr>
              <a:t>many projects report a custom eval script instead of numbers scored on a standard benchmark.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910080" y="26640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l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1" u="none" strike="noStrike">
                <a:solidFill>
                  <a:srgbClr val="704EA6"/>
                </a:solidFill>
                <a:effectLst/>
                <a:uFillTx/>
                <a:latin typeface="Calibri"/>
                <a:ea typeface="Calibri"/>
              </a:rPr>
              <a:t>Our Solutions &amp; Architecture Diagram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9" name="TextBox 114"/>
          <p:cNvSpPr/>
          <p:nvPr/>
        </p:nvSpPr>
        <p:spPr>
          <a:xfrm>
            <a:off x="841320" y="1828800"/>
            <a:ext cx="10515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300" b="1" u="none" strike="noStrike">
                <a:solidFill>
                  <a:srgbClr val="6D28D9"/>
                </a:solidFill>
                <a:effectLst/>
                <a:uFillTx/>
                <a:latin typeface="Calibri"/>
                <a:ea typeface="Arial"/>
              </a:rPr>
              <a:t>TRACK 1 — AppsRetrieval: semantic search over a fixed corpus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Rounded Rectangle 115"/>
          <p:cNvSpPr/>
          <p:nvPr/>
        </p:nvSpPr>
        <p:spPr>
          <a:xfrm>
            <a:off x="841320" y="2157840"/>
            <a:ext cx="1941840" cy="868320"/>
          </a:xfrm>
          <a:prstGeom prst="roundRect">
            <a:avLst>
              <a:gd name="adj" fmla="val 12000"/>
            </a:avLst>
          </a:prstGeom>
          <a:solidFill>
            <a:srgbClr val="F3F0FA"/>
          </a:solidFill>
          <a:ln w="12700">
            <a:solidFill>
              <a:srgbClr val="6D28D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Box 116"/>
          <p:cNvSpPr/>
          <p:nvPr/>
        </p:nvSpPr>
        <p:spPr>
          <a:xfrm>
            <a:off x="914400" y="2157840"/>
            <a:ext cx="17956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>
              <a:lnSpc>
                <a:spcPct val="100000"/>
              </a:lnSpc>
            </a:pPr>
            <a:r>
              <a:rPr lang="en-US" sz="1050" b="1" u="none" strike="noStrike">
                <a:solidFill>
                  <a:srgbClr val="14142B"/>
                </a:solidFill>
                <a:effectLst/>
                <a:uFillTx/>
                <a:latin typeface="Calibri"/>
                <a:ea typeface="Arial"/>
              </a:rPr>
              <a:t>Query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Rounded Rectangle 117"/>
          <p:cNvSpPr/>
          <p:nvPr/>
        </p:nvSpPr>
        <p:spPr>
          <a:xfrm>
            <a:off x="2984760" y="2157840"/>
            <a:ext cx="1941840" cy="388440"/>
          </a:xfrm>
          <a:prstGeom prst="roundRect">
            <a:avLst>
              <a:gd name="adj" fmla="val 16000"/>
            </a:avLst>
          </a:prstGeom>
          <a:solidFill>
            <a:srgbClr val="F3F0FA"/>
          </a:solidFill>
          <a:ln w="12700">
            <a:solidFill>
              <a:srgbClr val="6D28D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Box 118"/>
          <p:cNvSpPr/>
          <p:nvPr/>
        </p:nvSpPr>
        <p:spPr>
          <a:xfrm>
            <a:off x="3039480" y="2157840"/>
            <a:ext cx="1832040" cy="38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/>
            <a:r>
              <a:rPr lang="en-US" sz="950" b="1" u="none" strike="noStrike">
                <a:solidFill>
                  <a:srgbClr val="14142B"/>
                </a:solidFill>
                <a:effectLst/>
                <a:uFillTx/>
                <a:latin typeface="Calibri"/>
                <a:ea typeface="Arial"/>
              </a:rPr>
              <a:t>BM25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950" b="1" u="none" strike="noStrike">
                <a:solidFill>
                  <a:srgbClr val="14142B"/>
                </a:solidFill>
                <a:effectLst/>
                <a:uFillTx/>
                <a:latin typeface="Calibri"/>
                <a:ea typeface="Arial"/>
              </a:rPr>
              <a:t>(identifier-aware)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Rounded Rectangle 119"/>
          <p:cNvSpPr/>
          <p:nvPr/>
        </p:nvSpPr>
        <p:spPr>
          <a:xfrm>
            <a:off x="2984760" y="2638080"/>
            <a:ext cx="1941840" cy="388440"/>
          </a:xfrm>
          <a:prstGeom prst="roundRect">
            <a:avLst>
              <a:gd name="adj" fmla="val 16000"/>
            </a:avLst>
          </a:prstGeom>
          <a:solidFill>
            <a:srgbClr val="F3F0FA"/>
          </a:solidFill>
          <a:ln w="12700">
            <a:solidFill>
              <a:srgbClr val="6D28D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Box 120"/>
          <p:cNvSpPr/>
          <p:nvPr/>
        </p:nvSpPr>
        <p:spPr>
          <a:xfrm>
            <a:off x="3039480" y="2638080"/>
            <a:ext cx="1832040" cy="38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/>
            <a:r>
              <a:rPr lang="en-US" sz="950" b="1" u="none" strike="noStrike">
                <a:solidFill>
                  <a:srgbClr val="14142B"/>
                </a:solidFill>
                <a:effectLst/>
                <a:uFillTx/>
                <a:latin typeface="Calibri"/>
                <a:ea typeface="Arial"/>
              </a:rPr>
              <a:t>Dense encoder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950" b="1" u="none" strike="noStrike">
                <a:solidFill>
                  <a:srgbClr val="14142B"/>
                </a:solidFill>
                <a:effectLst/>
                <a:uFillTx/>
                <a:latin typeface="Calibri"/>
                <a:ea typeface="Arial"/>
              </a:rPr>
              <a:t>(e5-base-v2 / jina)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Rounded Rectangle 121"/>
          <p:cNvSpPr/>
          <p:nvPr/>
        </p:nvSpPr>
        <p:spPr>
          <a:xfrm>
            <a:off x="5127840" y="2157840"/>
            <a:ext cx="1941840" cy="868320"/>
          </a:xfrm>
          <a:prstGeom prst="roundRect">
            <a:avLst>
              <a:gd name="adj" fmla="val 12000"/>
            </a:avLst>
          </a:prstGeom>
          <a:solidFill>
            <a:srgbClr val="F3F0FA"/>
          </a:solidFill>
          <a:ln w="12700">
            <a:solidFill>
              <a:srgbClr val="6D28D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Box 122"/>
          <p:cNvSpPr/>
          <p:nvPr/>
        </p:nvSpPr>
        <p:spPr>
          <a:xfrm>
            <a:off x="5201280" y="2157840"/>
            <a:ext cx="17956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/>
            <a:r>
              <a:rPr lang="en-US" sz="1050" b="1" u="none" strike="noStrike">
                <a:solidFill>
                  <a:srgbClr val="14142B"/>
                </a:solidFill>
                <a:effectLst/>
                <a:uFillTx/>
                <a:latin typeface="Calibri"/>
                <a:ea typeface="Arial"/>
              </a:rPr>
              <a:t>Fusion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050" b="1" u="none" strike="noStrike">
                <a:solidFill>
                  <a:srgbClr val="14142B"/>
                </a:solidFill>
                <a:effectLst/>
                <a:uFillTx/>
                <a:latin typeface="Calibri"/>
                <a:ea typeface="Arial"/>
              </a:rPr>
              <a:t>(RRF / weighted z-score)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Rounded Rectangle 123"/>
          <p:cNvSpPr/>
          <p:nvPr/>
        </p:nvSpPr>
        <p:spPr>
          <a:xfrm>
            <a:off x="7271280" y="2157840"/>
            <a:ext cx="1941840" cy="868320"/>
          </a:xfrm>
          <a:prstGeom prst="roundRect">
            <a:avLst>
              <a:gd name="adj" fmla="val 12000"/>
            </a:avLst>
          </a:prstGeom>
          <a:solidFill>
            <a:srgbClr val="F3F0FA"/>
          </a:solidFill>
          <a:ln w="12700">
            <a:solidFill>
              <a:srgbClr val="6D28D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Box 124"/>
          <p:cNvSpPr/>
          <p:nvPr/>
        </p:nvSpPr>
        <p:spPr>
          <a:xfrm>
            <a:off x="7344360" y="2157840"/>
            <a:ext cx="17956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/>
            <a:r>
              <a:rPr lang="en-US" sz="1050" b="1" u="none" strike="noStrike">
                <a:solidFill>
                  <a:srgbClr val="14142B"/>
                </a:solidFill>
                <a:effectLst/>
                <a:uFillTx/>
                <a:latin typeface="Calibri"/>
                <a:ea typeface="Arial"/>
              </a:rPr>
              <a:t>Ranked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050" b="1" u="none" strike="noStrike">
                <a:solidFill>
                  <a:srgbClr val="14142B"/>
                </a:solidFill>
                <a:effectLst/>
                <a:uFillTx/>
                <a:latin typeface="Calibri"/>
                <a:ea typeface="Arial"/>
              </a:rPr>
              <a:t>snippets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Rounded Rectangle 125"/>
          <p:cNvSpPr/>
          <p:nvPr/>
        </p:nvSpPr>
        <p:spPr>
          <a:xfrm>
            <a:off x="9414720" y="2157840"/>
            <a:ext cx="1941840" cy="868320"/>
          </a:xfrm>
          <a:prstGeom prst="roundRect">
            <a:avLst>
              <a:gd name="adj" fmla="val 12000"/>
            </a:avLst>
          </a:prstGeom>
          <a:solidFill>
            <a:srgbClr val="F3F0FA"/>
          </a:solidFill>
          <a:ln w="12700">
            <a:solidFill>
              <a:srgbClr val="6D28D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Box 126"/>
          <p:cNvSpPr/>
          <p:nvPr/>
        </p:nvSpPr>
        <p:spPr>
          <a:xfrm>
            <a:off x="9487800" y="2157840"/>
            <a:ext cx="17956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/>
            <a:r>
              <a:rPr lang="en-US" sz="1050" b="1" u="none" strike="noStrike">
                <a:solidFill>
                  <a:srgbClr val="14142B"/>
                </a:solidFill>
                <a:effectLst/>
                <a:uFillTx/>
                <a:latin typeface="Calibri"/>
                <a:ea typeface="Arial"/>
              </a:rPr>
              <a:t>mteb.evaluate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050" b="1" u="none" strike="noStrike">
                <a:solidFill>
                  <a:srgbClr val="14142B"/>
                </a:solidFill>
                <a:effectLst/>
                <a:uFillTx/>
                <a:latin typeface="Calibri"/>
                <a:ea typeface="Arial"/>
              </a:rPr>
              <a:t>NDCG@10 · MRR@10 · </a:t>
            </a:r>
            <a:r>
              <a:rPr lang="en-US" sz="1050" b="1" u="none" strike="noStrike">
                <a:solidFill>
                  <a:srgbClr val="14142B"/>
                </a:solidFill>
                <a:effectLst/>
                <a:uFillTx/>
                <a:latin typeface="Calibri"/>
                <a:ea typeface="Arial"/>
              </a:rPr>
              <a:t>Recall@100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12" name="Connector 127"/>
          <p:cNvCxnSpPr/>
          <p:nvPr/>
        </p:nvCxnSpPr>
        <p:spPr>
          <a:xfrm>
            <a:off x="2783160" y="2592000"/>
            <a:ext cx="201600" cy="360"/>
          </a:xfrm>
          <a:prstGeom prst="straightConnector1">
            <a:avLst/>
          </a:prstGeom>
          <a:ln w="19050">
            <a:solidFill>
              <a:srgbClr val="6D28D9"/>
            </a:solidFill>
            <a:round/>
            <a:tailEnd len="med" type="triangle" w="med"/>
          </a:ln>
        </p:spPr>
      </p:cxnSp>
      <p:cxnSp>
        <p:nvCxnSpPr>
          <p:cNvPr id="113" name="Connector 128"/>
          <p:cNvCxnSpPr/>
          <p:nvPr/>
        </p:nvCxnSpPr>
        <p:spPr>
          <a:xfrm>
            <a:off x="4926600" y="2592000"/>
            <a:ext cx="201600" cy="360"/>
          </a:xfrm>
          <a:prstGeom prst="straightConnector1">
            <a:avLst/>
          </a:prstGeom>
          <a:ln w="19050">
            <a:solidFill>
              <a:srgbClr val="6D28D9"/>
            </a:solidFill>
            <a:round/>
            <a:tailEnd len="med" type="triangle" w="med"/>
          </a:ln>
        </p:spPr>
      </p:cxnSp>
      <p:cxnSp>
        <p:nvCxnSpPr>
          <p:cNvPr id="114" name="Connector 129"/>
          <p:cNvCxnSpPr/>
          <p:nvPr/>
        </p:nvCxnSpPr>
        <p:spPr>
          <a:xfrm>
            <a:off x="7070040" y="2592000"/>
            <a:ext cx="201600" cy="360"/>
          </a:xfrm>
          <a:prstGeom prst="straightConnector1">
            <a:avLst/>
          </a:prstGeom>
          <a:ln w="19050">
            <a:solidFill>
              <a:srgbClr val="6D28D9"/>
            </a:solidFill>
            <a:round/>
            <a:tailEnd len="med" type="triangle" w="med"/>
          </a:ln>
        </p:spPr>
      </p:cxnSp>
      <p:cxnSp>
        <p:nvCxnSpPr>
          <p:cNvPr id="115" name="Connector 130"/>
          <p:cNvCxnSpPr/>
          <p:nvPr/>
        </p:nvCxnSpPr>
        <p:spPr>
          <a:xfrm>
            <a:off x="9213480" y="2592000"/>
            <a:ext cx="201240" cy="360"/>
          </a:xfrm>
          <a:prstGeom prst="straightConnector1">
            <a:avLst/>
          </a:prstGeom>
          <a:ln w="19050">
            <a:solidFill>
              <a:srgbClr val="6D28D9"/>
            </a:solidFill>
            <a:round/>
            <a:tailEnd len="med" type="triangle" w="med"/>
          </a:ln>
        </p:spPr>
      </p:cxnSp>
      <p:sp>
        <p:nvSpPr>
          <p:cNvPr id="116" name="TextBox 131"/>
          <p:cNvSpPr/>
          <p:nvPr/>
        </p:nvSpPr>
        <p:spPr>
          <a:xfrm>
            <a:off x="841320" y="3483720"/>
            <a:ext cx="10515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300" b="1" u="none" strike="noStrike">
                <a:solidFill>
                  <a:srgbClr val="1F4CD8"/>
                </a:solidFill>
                <a:effectLst/>
                <a:uFillTx/>
                <a:latin typeface="Calibri"/>
                <a:ea typeface="Arial"/>
              </a:rPr>
              <a:t>TRACK 2 — version-aware search across a repo's git history (bonus)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Rounded Rectangle 132"/>
          <p:cNvSpPr/>
          <p:nvPr/>
        </p:nvSpPr>
        <p:spPr>
          <a:xfrm>
            <a:off x="841320" y="3813120"/>
            <a:ext cx="1941840" cy="868320"/>
          </a:xfrm>
          <a:prstGeom prst="roundRect">
            <a:avLst>
              <a:gd name="adj" fmla="val 12000"/>
            </a:avLst>
          </a:prstGeom>
          <a:solidFill>
            <a:srgbClr val="EEF6F4"/>
          </a:solidFill>
          <a:ln w="12700">
            <a:solidFill>
              <a:srgbClr val="1F4CD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Box 133"/>
          <p:cNvSpPr/>
          <p:nvPr/>
        </p:nvSpPr>
        <p:spPr>
          <a:xfrm>
            <a:off x="914400" y="3813120"/>
            <a:ext cx="17956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/>
            <a:r>
              <a:rPr lang="en-US" sz="1050" b="1" u="none" strike="noStrike">
                <a:solidFill>
                  <a:srgbClr val="14142B"/>
                </a:solidFill>
                <a:effectLst/>
                <a:uFillTx/>
                <a:latin typeface="Calibri"/>
                <a:ea typeface="Arial"/>
              </a:rPr>
              <a:t>git commit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050" b="1" u="none" strike="noStrike">
                <a:solidFill>
                  <a:srgbClr val="14142B"/>
                </a:solidFill>
                <a:effectLst/>
                <a:uFillTx/>
                <a:latin typeface="Calibri"/>
                <a:ea typeface="Arial"/>
              </a:rPr>
              <a:t>(first-parent walk)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Rounded Rectangle 134"/>
          <p:cNvSpPr/>
          <p:nvPr/>
        </p:nvSpPr>
        <p:spPr>
          <a:xfrm>
            <a:off x="2984760" y="3813120"/>
            <a:ext cx="1941840" cy="868320"/>
          </a:xfrm>
          <a:prstGeom prst="roundRect">
            <a:avLst>
              <a:gd name="adj" fmla="val 12000"/>
            </a:avLst>
          </a:prstGeom>
          <a:solidFill>
            <a:srgbClr val="EEF6F4"/>
          </a:solidFill>
          <a:ln w="12700">
            <a:solidFill>
              <a:srgbClr val="1F4CD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Box 135"/>
          <p:cNvSpPr/>
          <p:nvPr/>
        </p:nvSpPr>
        <p:spPr>
          <a:xfrm>
            <a:off x="3057840" y="3813120"/>
            <a:ext cx="17956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/>
            <a:r>
              <a:rPr lang="en-US" sz="1050" b="1" u="none" strike="noStrike">
                <a:solidFill>
                  <a:srgbClr val="14142B"/>
                </a:solidFill>
                <a:effectLst/>
                <a:uFillTx/>
                <a:latin typeface="Calibri"/>
                <a:ea typeface="Arial"/>
              </a:rPr>
              <a:t>tree-sitter parse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050" b="1" u="none" strike="noStrike">
                <a:solidFill>
                  <a:srgbClr val="14142B"/>
                </a:solidFill>
                <a:effectLst/>
                <a:uFillTx/>
                <a:latin typeface="Calibri"/>
                <a:ea typeface="Arial"/>
              </a:rPr>
              <a:t>(changed files only)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Rounded Rectangle 136"/>
          <p:cNvSpPr/>
          <p:nvPr/>
        </p:nvSpPr>
        <p:spPr>
          <a:xfrm>
            <a:off x="5127840" y="3813120"/>
            <a:ext cx="1941840" cy="868320"/>
          </a:xfrm>
          <a:prstGeom prst="roundRect">
            <a:avLst>
              <a:gd name="adj" fmla="val 12000"/>
            </a:avLst>
          </a:prstGeom>
          <a:solidFill>
            <a:srgbClr val="EEF6F4"/>
          </a:solidFill>
          <a:ln w="12700">
            <a:solidFill>
              <a:srgbClr val="1F4CD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Box 137"/>
          <p:cNvSpPr/>
          <p:nvPr/>
        </p:nvSpPr>
        <p:spPr>
          <a:xfrm>
            <a:off x="5201280" y="3813120"/>
            <a:ext cx="17956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/>
            <a:r>
              <a:rPr lang="en-US" sz="1050" b="1" u="none" strike="noStrike">
                <a:solidFill>
                  <a:srgbClr val="14142B"/>
                </a:solidFill>
                <a:effectLst/>
                <a:uFillTx/>
                <a:latin typeface="Calibri"/>
                <a:ea typeface="Arial"/>
              </a:rPr>
              <a:t>sha256(code)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050" b="1" u="none" strike="noStrike">
                <a:solidFill>
                  <a:srgbClr val="14142B"/>
                </a:solidFill>
                <a:effectLst/>
                <a:uFillTx/>
                <a:latin typeface="Calibri"/>
                <a:ea typeface="Arial"/>
              </a:rPr>
              <a:t>content-address + dedup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Rounded Rectangle 138"/>
          <p:cNvSpPr/>
          <p:nvPr/>
        </p:nvSpPr>
        <p:spPr>
          <a:xfrm>
            <a:off x="7271280" y="3813120"/>
            <a:ext cx="1941840" cy="868320"/>
          </a:xfrm>
          <a:prstGeom prst="roundRect">
            <a:avLst>
              <a:gd name="adj" fmla="val 12000"/>
            </a:avLst>
          </a:prstGeom>
          <a:solidFill>
            <a:srgbClr val="EEF6F4"/>
          </a:solidFill>
          <a:ln w="12700">
            <a:solidFill>
              <a:srgbClr val="1F4CD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Box 139"/>
          <p:cNvSpPr/>
          <p:nvPr/>
        </p:nvSpPr>
        <p:spPr>
          <a:xfrm>
            <a:off x="7344360" y="3813120"/>
            <a:ext cx="17956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/>
            <a:r>
              <a:rPr lang="en-US" sz="1050" b="1" u="none" strike="noStrike">
                <a:solidFill>
                  <a:srgbClr val="14142B"/>
                </a:solidFill>
                <a:effectLst/>
                <a:uFillTx/>
                <a:latin typeface="Calibri"/>
                <a:ea typeface="Arial"/>
              </a:rPr>
              <a:t>embed unseen only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050" b="1" u="none" strike="noStrike">
                <a:solidFill>
                  <a:srgbClr val="14142B"/>
                </a:solidFill>
                <a:effectLst/>
                <a:uFillTx/>
                <a:latin typeface="Calibri"/>
                <a:ea typeface="Arial"/>
              </a:rPr>
              <a:t>→ SQLite snapshot store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Rounded Rectangle 140"/>
          <p:cNvSpPr/>
          <p:nvPr/>
        </p:nvSpPr>
        <p:spPr>
          <a:xfrm>
            <a:off x="9414720" y="3813120"/>
            <a:ext cx="1941840" cy="868320"/>
          </a:xfrm>
          <a:prstGeom prst="roundRect">
            <a:avLst>
              <a:gd name="adj" fmla="val 12000"/>
            </a:avLst>
          </a:prstGeom>
          <a:solidFill>
            <a:srgbClr val="EEF6F4"/>
          </a:solidFill>
          <a:ln w="12700">
            <a:solidFill>
              <a:srgbClr val="1F4CD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Box 141"/>
          <p:cNvSpPr/>
          <p:nvPr/>
        </p:nvSpPr>
        <p:spPr>
          <a:xfrm>
            <a:off x="9487800" y="3813120"/>
            <a:ext cx="17956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/>
            <a:r>
              <a:rPr lang="en-US" sz="1050" b="1" u="none" strike="noStrike">
                <a:solidFill>
                  <a:srgbClr val="14142B"/>
                </a:solidFill>
                <a:effectLst/>
                <a:uFillTx/>
                <a:latin typeface="Calibri"/>
                <a:ea typeface="Arial"/>
              </a:rPr>
              <a:t>snapshot / history search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050" b="1" u="none" strike="noStrike">
                <a:solidFill>
                  <a:srgbClr val="14142B"/>
                </a:solidFill>
                <a:effectLst/>
                <a:uFillTx/>
                <a:latin typeface="Calibri"/>
                <a:ea typeface="Arial"/>
              </a:rPr>
              <a:t>+ diff vs. nearest version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27" name="Connector 142"/>
          <p:cNvCxnSpPr/>
          <p:nvPr/>
        </p:nvCxnSpPr>
        <p:spPr>
          <a:xfrm>
            <a:off x="2783160" y="4247280"/>
            <a:ext cx="201600" cy="360"/>
          </a:xfrm>
          <a:prstGeom prst="straightConnector1">
            <a:avLst/>
          </a:prstGeom>
          <a:ln w="19050">
            <a:solidFill>
              <a:srgbClr val="1F4CD8"/>
            </a:solidFill>
            <a:round/>
            <a:tailEnd len="med" type="triangle" w="med"/>
          </a:ln>
        </p:spPr>
      </p:cxnSp>
      <p:cxnSp>
        <p:nvCxnSpPr>
          <p:cNvPr id="128" name="Connector 143"/>
          <p:cNvCxnSpPr/>
          <p:nvPr/>
        </p:nvCxnSpPr>
        <p:spPr>
          <a:xfrm>
            <a:off x="4926600" y="4247280"/>
            <a:ext cx="201600" cy="360"/>
          </a:xfrm>
          <a:prstGeom prst="straightConnector1">
            <a:avLst/>
          </a:prstGeom>
          <a:ln w="19050">
            <a:solidFill>
              <a:srgbClr val="1F4CD8"/>
            </a:solidFill>
            <a:round/>
            <a:tailEnd len="med" type="triangle" w="med"/>
          </a:ln>
        </p:spPr>
      </p:cxnSp>
      <p:cxnSp>
        <p:nvCxnSpPr>
          <p:cNvPr id="129" name="Connector 144"/>
          <p:cNvCxnSpPr/>
          <p:nvPr/>
        </p:nvCxnSpPr>
        <p:spPr>
          <a:xfrm>
            <a:off x="7070040" y="4247280"/>
            <a:ext cx="201600" cy="360"/>
          </a:xfrm>
          <a:prstGeom prst="straightConnector1">
            <a:avLst/>
          </a:prstGeom>
          <a:ln w="19050">
            <a:solidFill>
              <a:srgbClr val="1F4CD8"/>
            </a:solidFill>
            <a:round/>
            <a:tailEnd len="med" type="triangle" w="med"/>
          </a:ln>
        </p:spPr>
      </p:cxnSp>
      <p:cxnSp>
        <p:nvCxnSpPr>
          <p:cNvPr id="130" name="Connector 145"/>
          <p:cNvCxnSpPr/>
          <p:nvPr/>
        </p:nvCxnSpPr>
        <p:spPr>
          <a:xfrm>
            <a:off x="9213480" y="4247280"/>
            <a:ext cx="201240" cy="360"/>
          </a:xfrm>
          <a:prstGeom prst="straightConnector1">
            <a:avLst/>
          </a:prstGeom>
          <a:ln w="19050">
            <a:solidFill>
              <a:srgbClr val="1F4CD8"/>
            </a:solidFill>
            <a:round/>
            <a:tailEnd len="med" type="triangle" w="med"/>
          </a:ln>
        </p:spPr>
      </p:cxnSp>
      <p:sp>
        <p:nvSpPr>
          <p:cNvPr id="131" name="Rounded Rectangle 146"/>
          <p:cNvSpPr/>
          <p:nvPr/>
        </p:nvSpPr>
        <p:spPr>
          <a:xfrm>
            <a:off x="841320" y="4956120"/>
            <a:ext cx="10515240" cy="456840"/>
          </a:xfrm>
          <a:prstGeom prst="roundRect">
            <a:avLst>
              <a:gd name="adj" fmla="val 12000"/>
            </a:avLst>
          </a:prstGeom>
          <a:solidFill>
            <a:srgbClr val="EEF6F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Box 147"/>
          <p:cNvSpPr/>
          <p:nvPr/>
        </p:nvSpPr>
        <p:spPr>
          <a:xfrm>
            <a:off x="1069920" y="4956120"/>
            <a:ext cx="10058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D9488"/>
                </a:solidFill>
                <a:effectLst/>
                <a:uFillTx/>
                <a:latin typeface="Calibri"/>
                <a:ea typeface="Arial"/>
              </a:rPr>
              <a:t>✓ </a:t>
            </a:r>
            <a:r>
              <a:rPr lang="en-US" sz="1200" b="1" u="none" strike="noStrike">
                <a:solidFill>
                  <a:srgbClr val="0D9488"/>
                </a:solidFill>
                <a:effectLst/>
                <a:uFillTx/>
                <a:latin typeface="Calibri"/>
                <a:ea typeface="Arial"/>
              </a:rPr>
              <a:t>tests/test_versioning.py </a:t>
            </a:r>
            <a:r>
              <a:rPr lang="en-US" sz="1200" b="0" u="none" strike="noStrike">
                <a:solidFill>
                  <a:srgbClr val="14142B"/>
                </a:solidFill>
                <a:effectLst/>
                <a:uFillTx/>
                <a:latin typeface="Calibri"/>
                <a:ea typeface="Arial"/>
              </a:rPr>
              <a:t>asserts incremental </a:t>
            </a:r>
            <a:r>
              <a:rPr lang="en-US" sz="1200" b="0" u="none" strike="noStrike">
                <a:solidFill>
                  <a:srgbClr val="14142B"/>
                </a:solidFill>
                <a:effectLst/>
                <a:uFillTx/>
                <a:latin typeface="Calibri"/>
                <a:ea typeface="Arial"/>
              </a:rPr>
              <a:t>indexing == full rebuild </a:t>
            </a:r>
            <a:r>
              <a:rPr lang="en-US" sz="1200" b="0" u="none" strike="noStrike">
                <a:solidFill>
                  <a:srgbClr val="14142B"/>
                </a:solidFill>
                <a:effectLst/>
                <a:uFillTx/>
                <a:latin typeface="Calibri"/>
                <a:ea typeface="Arial"/>
              </a:rPr>
              <a:t>(contents + search results) </a:t>
            </a:r>
            <a:r>
              <a:rPr lang="en-US" sz="1200" b="0" u="none" strike="noStrike">
                <a:solidFill>
                  <a:srgbClr val="14142B"/>
                </a:solidFill>
                <a:effectLst/>
                <a:uFillTx/>
                <a:latin typeface="Calibri"/>
                <a:ea typeface="Arial"/>
              </a:rPr>
              <a:t>across add / modify / </a:t>
            </a:r>
            <a:r>
              <a:rPr lang="en-US" sz="1200" b="0" u="none" strike="noStrike">
                <a:solidFill>
                  <a:srgbClr val="14142B"/>
                </a:solidFill>
                <a:effectLst/>
                <a:uFillTx/>
                <a:latin typeface="Calibri"/>
                <a:ea typeface="Arial"/>
              </a:rPr>
              <a:t>rename / delete commits.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l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1" u="none" strike="noStrike">
                <a:solidFill>
                  <a:srgbClr val="704EA6"/>
                </a:solidFill>
                <a:effectLst/>
                <a:uFillTx/>
                <a:latin typeface="Calibri"/>
                <a:ea typeface="Calibri"/>
              </a:rPr>
              <a:t>Demo &amp; Product </a:t>
            </a:r>
            <a:r>
              <a:rPr lang="en-US" sz="4400" b="1" u="none" strike="noStrike">
                <a:solidFill>
                  <a:srgbClr val="704EA6"/>
                </a:solidFill>
                <a:effectLst/>
                <a:uFillTx/>
                <a:latin typeface="Calibri"/>
                <a:ea typeface="Calibri"/>
              </a:rPr>
              <a:t>Walkthrough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5" name="Rounded Rectangle 120"/>
          <p:cNvSpPr/>
          <p:nvPr/>
        </p:nvSpPr>
        <p:spPr>
          <a:xfrm>
            <a:off x="841320" y="1828800"/>
            <a:ext cx="3346200" cy="2331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E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36" name="Oval 121"/>
          <p:cNvSpPr/>
          <p:nvPr/>
        </p:nvSpPr>
        <p:spPr>
          <a:xfrm>
            <a:off x="1046880" y="2034720"/>
            <a:ext cx="502560" cy="502560"/>
          </a:xfrm>
          <a:prstGeom prst="ellipse">
            <a:avLst/>
          </a:prstGeom>
          <a:solidFill>
            <a:srgbClr val="6D28D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7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Arial"/>
              </a:rPr>
              <a:t>1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Box 122"/>
          <p:cNvSpPr/>
          <p:nvPr/>
        </p:nvSpPr>
        <p:spPr>
          <a:xfrm>
            <a:off x="1097280" y="2670120"/>
            <a:ext cx="28342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14142B"/>
                </a:solidFill>
                <a:effectLst/>
                <a:uFillTx/>
                <a:latin typeface="Calibri"/>
                <a:ea typeface="Arial"/>
              </a:rPr>
              <a:t>Search the fixed </a:t>
            </a:r>
            <a:r>
              <a:rPr lang="en-US" sz="1400" b="1" u="none" strike="noStrike">
                <a:solidFill>
                  <a:srgbClr val="14142B"/>
                </a:solidFill>
                <a:effectLst/>
                <a:uFillTx/>
                <a:latin typeface="Calibri"/>
                <a:ea typeface="Arial"/>
              </a:rPr>
              <a:t>corpus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2000"/>
              </a:lnSpc>
              <a:spcBef>
                <a:spcPts val="400"/>
              </a:spcBef>
            </a:pPr>
            <a:r>
              <a:rPr lang="en-US" sz="1100" b="0" u="none" strike="noStrike">
                <a:solidFill>
                  <a:srgbClr val="63637E"/>
                </a:solidFill>
                <a:effectLst/>
                <a:uFillTx/>
                <a:latin typeface="Calibri"/>
                <a:ea typeface="Arial"/>
              </a:rPr>
              <a:t>BM25 + dense fusion over </a:t>
            </a:r>
            <a:r>
              <a:rPr lang="en-US" sz="1100" b="0" u="none" strike="noStrike">
                <a:solidFill>
                  <a:srgbClr val="63637E"/>
                </a:solidFill>
                <a:effectLst/>
                <a:uFillTx/>
                <a:latin typeface="Calibri"/>
                <a:ea typeface="Arial"/>
              </a:rPr>
              <a:t>8,765 code snippets.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Rounded Rectangle 123"/>
          <p:cNvSpPr/>
          <p:nvPr/>
        </p:nvSpPr>
        <p:spPr>
          <a:xfrm>
            <a:off x="1097280" y="3593520"/>
            <a:ext cx="2834280" cy="420120"/>
          </a:xfrm>
          <a:prstGeom prst="roundRect">
            <a:avLst>
              <a:gd name="adj" fmla="val 20000"/>
            </a:avLst>
          </a:prstGeom>
          <a:solidFill>
            <a:srgbClr val="F3F0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Box 124"/>
          <p:cNvSpPr/>
          <p:nvPr/>
        </p:nvSpPr>
        <p:spPr>
          <a:xfrm>
            <a:off x="1207080" y="3593520"/>
            <a:ext cx="261468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>
              <a:lnSpc>
                <a:spcPct val="100000"/>
              </a:lnSpc>
            </a:pPr>
            <a:r>
              <a:rPr lang="en-US" sz="1000" b="0" i="1" u="none" strike="noStrike">
                <a:solidFill>
                  <a:srgbClr val="14142B"/>
                </a:solidFill>
                <a:effectLst/>
                <a:uFillTx/>
                <a:latin typeface="Calibri"/>
                <a:ea typeface="Arial"/>
              </a:rPr>
              <a:t>“reverse a linked list” → ranked results in 0.4 ms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Rounded Rectangle 125"/>
          <p:cNvSpPr/>
          <p:nvPr/>
        </p:nvSpPr>
        <p:spPr>
          <a:xfrm>
            <a:off x="4380120" y="1828800"/>
            <a:ext cx="3346200" cy="2331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E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41" name="Oval 126"/>
          <p:cNvSpPr/>
          <p:nvPr/>
        </p:nvSpPr>
        <p:spPr>
          <a:xfrm>
            <a:off x="4585680" y="2034720"/>
            <a:ext cx="502560" cy="502560"/>
          </a:xfrm>
          <a:prstGeom prst="ellipse">
            <a:avLst/>
          </a:prstGeom>
          <a:solidFill>
            <a:srgbClr val="1F4CD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7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Arial"/>
              </a:rPr>
              <a:t>2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Box 127"/>
          <p:cNvSpPr/>
          <p:nvPr/>
        </p:nvSpPr>
        <p:spPr>
          <a:xfrm>
            <a:off x="4636080" y="2670120"/>
            <a:ext cx="28342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14142B"/>
                </a:solidFill>
                <a:effectLst/>
                <a:uFillTx/>
                <a:latin typeface="Calibri"/>
                <a:ea typeface="Arial"/>
              </a:rPr>
              <a:t>Search one repo snapshot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2000"/>
              </a:lnSpc>
              <a:spcBef>
                <a:spcPts val="400"/>
              </a:spcBef>
            </a:pPr>
            <a:r>
              <a:rPr lang="en-US" sz="1100" b="0" u="none" strike="noStrike">
                <a:solidFill>
                  <a:srgbClr val="63637E"/>
                </a:solidFill>
                <a:effectLst/>
                <a:uFillTx/>
                <a:latin typeface="Calibri"/>
                <a:ea typeface="Arial"/>
              </a:rPr>
              <a:t>Semantic search over every function at a chosen commit.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Rounded Rectangle 128"/>
          <p:cNvSpPr/>
          <p:nvPr/>
        </p:nvSpPr>
        <p:spPr>
          <a:xfrm>
            <a:off x="4636080" y="3593520"/>
            <a:ext cx="2834280" cy="420120"/>
          </a:xfrm>
          <a:prstGeom prst="roundRect">
            <a:avLst>
              <a:gd name="adj" fmla="val 20000"/>
            </a:avLst>
          </a:prstGeom>
          <a:solidFill>
            <a:srgbClr val="F3F0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Box 129"/>
          <p:cNvSpPr/>
          <p:nvPr/>
        </p:nvSpPr>
        <p:spPr>
          <a:xfrm>
            <a:off x="4745880" y="3593520"/>
            <a:ext cx="261468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>
              <a:lnSpc>
                <a:spcPct val="100000"/>
              </a:lnSpc>
            </a:pPr>
            <a:r>
              <a:rPr lang="en-US" sz="1000" b="0" i="1" u="none" strike="noStrike">
                <a:solidFill>
                  <a:srgbClr val="14142B"/>
                </a:solidFill>
                <a:effectLst/>
                <a:uFillTx/>
                <a:latin typeface="Calibri"/>
                <a:ea typeface="Arial"/>
              </a:rPr>
              <a:t>“set a response header” → res.header (34 ms)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Rounded Rectangle 130"/>
          <p:cNvSpPr/>
          <p:nvPr/>
        </p:nvSpPr>
        <p:spPr>
          <a:xfrm>
            <a:off x="7918560" y="1828800"/>
            <a:ext cx="3346200" cy="2331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E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46" name="Oval 131"/>
          <p:cNvSpPr/>
          <p:nvPr/>
        </p:nvSpPr>
        <p:spPr>
          <a:xfrm>
            <a:off x="8124480" y="2034720"/>
            <a:ext cx="502560" cy="502560"/>
          </a:xfrm>
          <a:prstGeom prst="ellipse">
            <a:avLst/>
          </a:prstGeom>
          <a:solidFill>
            <a:srgbClr val="0D948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7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Arial"/>
              </a:rPr>
              <a:t>3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Box 132"/>
          <p:cNvSpPr/>
          <p:nvPr/>
        </p:nvSpPr>
        <p:spPr>
          <a:xfrm>
            <a:off x="8174880" y="2670120"/>
            <a:ext cx="28342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14142B"/>
                </a:solidFill>
                <a:effectLst/>
                <a:uFillTx/>
                <a:latin typeface="Calibri"/>
                <a:ea typeface="Arial"/>
              </a:rPr>
              <a:t>Search the entire history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2000"/>
              </a:lnSpc>
              <a:spcBef>
                <a:spcPts val="400"/>
              </a:spcBef>
            </a:pPr>
            <a:r>
              <a:rPr lang="en-US" sz="1100" b="0" u="none" strike="noStrike">
                <a:solidFill>
                  <a:srgbClr val="63637E"/>
                </a:solidFill>
                <a:effectLst/>
                <a:uFillTx/>
                <a:latin typeface="Calibri"/>
                <a:ea typeface="Arial"/>
              </a:rPr>
              <a:t>Same query, but across every indexed commit — with the diff between versions.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Rounded Rectangle 133"/>
          <p:cNvSpPr/>
          <p:nvPr/>
        </p:nvSpPr>
        <p:spPr>
          <a:xfrm>
            <a:off x="8174880" y="3593520"/>
            <a:ext cx="2834280" cy="420120"/>
          </a:xfrm>
          <a:prstGeom prst="roundRect">
            <a:avLst>
              <a:gd name="adj" fmla="val 20000"/>
            </a:avLst>
          </a:prstGeom>
          <a:solidFill>
            <a:srgbClr val="F3F0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Box 134"/>
          <p:cNvSpPr/>
          <p:nvPr/>
        </p:nvSpPr>
        <p:spPr>
          <a:xfrm>
            <a:off x="8284320" y="3593520"/>
            <a:ext cx="261468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>
              <a:lnSpc>
                <a:spcPct val="100000"/>
              </a:lnSpc>
            </a:pPr>
            <a:r>
              <a:rPr lang="en-US" sz="1000" b="0" i="1" u="none" strike="noStrike">
                <a:solidFill>
                  <a:srgbClr val="14142B"/>
                </a:solidFill>
                <a:effectLst/>
                <a:uFillTx/>
                <a:latin typeface="Calibri"/>
                <a:ea typeface="Arial"/>
              </a:rPr>
              <a:t>“check whether the request is fresh” → req.fresh, 2 versions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Rounded Rectangle 135"/>
          <p:cNvSpPr/>
          <p:nvPr/>
        </p:nvSpPr>
        <p:spPr>
          <a:xfrm>
            <a:off x="841320" y="4434840"/>
            <a:ext cx="10515240" cy="1096920"/>
          </a:xfrm>
          <a:prstGeom prst="roundRect">
            <a:avLst>
              <a:gd name="adj" fmla="val 8000"/>
            </a:avLst>
          </a:prstGeom>
          <a:solidFill>
            <a:srgbClr val="EEF6F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Box 136"/>
          <p:cNvSpPr/>
          <p:nvPr/>
        </p:nvSpPr>
        <p:spPr>
          <a:xfrm>
            <a:off x="1115640" y="4563000"/>
            <a:ext cx="996660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50" b="1" u="none" strike="noStrike">
                <a:solidFill>
                  <a:srgbClr val="0D9488"/>
                </a:solidFill>
                <a:effectLst/>
                <a:uFillTx/>
                <a:latin typeface="Calibri"/>
                <a:ea typeface="Arial"/>
              </a:rPr>
              <a:t>Standout moment: </a:t>
            </a:r>
            <a:r>
              <a:rPr lang="en-US" sz="1250" b="0" u="none" strike="noStrike">
                <a:solidFill>
                  <a:srgbClr val="14142B"/>
                </a:solidFill>
                <a:effectLst/>
                <a:uFillTx/>
                <a:latin typeface="Calibri"/>
                <a:ea typeface="Arial"/>
              </a:rPr>
              <a:t>history search doesn't just find req.fresh — it shows both versions and the exact diff between them (the fix adding QUERY as a valid method).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</a:pPr>
            <a:r>
              <a:rPr lang="en-US" sz="1150" b="1" u="none" strike="noStrike">
                <a:solidFill>
                  <a:srgbClr val="63637E"/>
                </a:solidFill>
                <a:effectLst/>
                <a:uFillTx/>
                <a:latin typeface="Calibri"/>
                <a:ea typeface="Arial"/>
              </a:rPr>
              <a:t>Demo video: </a:t>
            </a:r>
            <a:r>
              <a:rPr lang="en-US" sz="1150" b="0" i="1" u="none" strike="noStrike">
                <a:solidFill>
                  <a:srgbClr val="63637E"/>
                </a:solidFill>
                <a:effectLst/>
                <a:uFillTx/>
                <a:latin typeface="Calibri"/>
                <a:ea typeface="Arial"/>
              </a:rPr>
              <a:t>[add link here]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l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1" u="none" strike="noStrike">
                <a:solidFill>
                  <a:srgbClr val="704EA6"/>
                </a:solidFill>
                <a:effectLst/>
                <a:uFillTx/>
                <a:latin typeface="Calibri"/>
                <a:ea typeface="Calibri"/>
              </a:rPr>
              <a:t>Tools and tech stack used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4" name="Rounded Rectangle 126"/>
          <p:cNvSpPr/>
          <p:nvPr/>
        </p:nvSpPr>
        <p:spPr>
          <a:xfrm>
            <a:off x="841320" y="1828800"/>
            <a:ext cx="3346200" cy="1919880"/>
          </a:xfrm>
          <a:prstGeom prst="roundRect">
            <a:avLst>
              <a:gd name="adj" fmla="val 6000"/>
            </a:avLst>
          </a:prstGeom>
          <a:solidFill>
            <a:srgbClr val="F3F0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55" name="Oval 127"/>
          <p:cNvSpPr/>
          <p:nvPr/>
        </p:nvSpPr>
        <p:spPr>
          <a:xfrm>
            <a:off x="960120" y="1965960"/>
            <a:ext cx="365400" cy="365400"/>
          </a:xfrm>
          <a:prstGeom prst="ellipse">
            <a:avLst/>
          </a:prstGeom>
          <a:solidFill>
            <a:srgbClr val="6D28D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Box 128"/>
          <p:cNvSpPr/>
          <p:nvPr/>
        </p:nvSpPr>
        <p:spPr>
          <a:xfrm>
            <a:off x="1389960" y="1974960"/>
            <a:ext cx="2568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>
              <a:lnSpc>
                <a:spcPct val="100000"/>
              </a:lnSpc>
            </a:pPr>
            <a:r>
              <a:rPr lang="en-US" sz="1300" b="1" u="none" strike="noStrike">
                <a:solidFill>
                  <a:srgbClr val="14142B"/>
                </a:solidFill>
                <a:effectLst/>
                <a:uFillTx/>
                <a:latin typeface="Calibri"/>
                <a:ea typeface="Arial"/>
              </a:rPr>
              <a:t>Language &amp; runtime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Box 129"/>
          <p:cNvSpPr/>
          <p:nvPr/>
        </p:nvSpPr>
        <p:spPr>
          <a:xfrm>
            <a:off x="1097280" y="2395800"/>
            <a:ext cx="283428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182880" indent="-182880">
              <a:lnSpc>
                <a:spcPct val="110000"/>
              </a:lnSpc>
              <a:spcAft>
                <a:spcPts val="499"/>
              </a:spcAft>
              <a:buClr>
                <a:srgbClr val="6D28D9"/>
              </a:buClr>
              <a:buFont typeface="Arial"/>
              <a:buChar char="•"/>
            </a:pPr>
            <a:r>
              <a:rPr lang="en-US" sz="1100" b="0" u="none" strike="noStrike">
                <a:solidFill>
                  <a:srgbClr val="14142B"/>
                </a:solidFill>
                <a:effectLst/>
                <a:uFillTx/>
                <a:latin typeface="Calibri"/>
                <a:ea typeface="Arial"/>
              </a:rPr>
              <a:t>Python 3.12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" indent="-182880">
              <a:lnSpc>
                <a:spcPct val="110000"/>
              </a:lnSpc>
              <a:spcAft>
                <a:spcPts val="499"/>
              </a:spcAft>
              <a:buClr>
                <a:srgbClr val="6D28D9"/>
              </a:buClr>
              <a:buFont typeface="Arial"/>
              <a:buChar char="•"/>
            </a:pPr>
            <a:r>
              <a:rPr lang="en-US" sz="1100" b="0" u="none" strike="noStrike">
                <a:solidFill>
                  <a:srgbClr val="14142B"/>
                </a:solidFill>
                <a:effectLst/>
                <a:uFillTx/>
                <a:latin typeface="Calibri"/>
                <a:ea typeface="Arial"/>
              </a:rPr>
              <a:t>CPU-only execution throughout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Rounded Rectangle 130"/>
          <p:cNvSpPr/>
          <p:nvPr/>
        </p:nvSpPr>
        <p:spPr>
          <a:xfrm>
            <a:off x="4380120" y="1828800"/>
            <a:ext cx="3346200" cy="1919880"/>
          </a:xfrm>
          <a:prstGeom prst="roundRect">
            <a:avLst>
              <a:gd name="adj" fmla="val 6000"/>
            </a:avLst>
          </a:prstGeom>
          <a:solidFill>
            <a:srgbClr val="F3F0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59" name="Oval 131"/>
          <p:cNvSpPr/>
          <p:nvPr/>
        </p:nvSpPr>
        <p:spPr>
          <a:xfrm>
            <a:off x="4498920" y="1965960"/>
            <a:ext cx="365400" cy="365400"/>
          </a:xfrm>
          <a:prstGeom prst="ellipse">
            <a:avLst/>
          </a:prstGeom>
          <a:solidFill>
            <a:srgbClr val="1F4CD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Box 132"/>
          <p:cNvSpPr/>
          <p:nvPr/>
        </p:nvSpPr>
        <p:spPr>
          <a:xfrm>
            <a:off x="4928760" y="1974960"/>
            <a:ext cx="2568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>
              <a:lnSpc>
                <a:spcPct val="100000"/>
              </a:lnSpc>
            </a:pPr>
            <a:r>
              <a:rPr lang="en-US" sz="1300" b="1" u="none" strike="noStrike">
                <a:solidFill>
                  <a:srgbClr val="14142B"/>
                </a:solidFill>
                <a:effectLst/>
                <a:uFillTx/>
                <a:latin typeface="Calibri"/>
                <a:ea typeface="Arial"/>
              </a:rPr>
              <a:t>Retrieval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Box 133"/>
          <p:cNvSpPr/>
          <p:nvPr/>
        </p:nvSpPr>
        <p:spPr>
          <a:xfrm>
            <a:off x="4636080" y="2395800"/>
            <a:ext cx="283428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182880" indent="-182880">
              <a:lnSpc>
                <a:spcPct val="110000"/>
              </a:lnSpc>
              <a:spcAft>
                <a:spcPts val="499"/>
              </a:spcAft>
              <a:buClr>
                <a:srgbClr val="1F4CD8"/>
              </a:buClr>
              <a:buFont typeface="Arial"/>
              <a:buChar char="•"/>
            </a:pPr>
            <a:r>
              <a:rPr lang="en-US" sz="1100" b="0" u="none" strike="noStrike">
                <a:solidFill>
                  <a:srgbClr val="14142B"/>
                </a:solidFill>
                <a:effectLst/>
                <a:uFillTx/>
                <a:latin typeface="Calibri"/>
                <a:ea typeface="Arial"/>
              </a:rPr>
              <a:t>bm25s (lexical, identifier-aware)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" indent="-182880">
              <a:lnSpc>
                <a:spcPct val="110000"/>
              </a:lnSpc>
              <a:spcAft>
                <a:spcPts val="499"/>
              </a:spcAft>
              <a:buClr>
                <a:srgbClr val="1F4CD8"/>
              </a:buClr>
              <a:buFont typeface="Arial"/>
              <a:buChar char="•"/>
            </a:pPr>
            <a:r>
              <a:rPr lang="en-US" sz="1100" b="0" u="none" strike="noStrike">
                <a:solidFill>
                  <a:srgbClr val="14142B"/>
                </a:solidFill>
                <a:effectLst/>
                <a:uFillTx/>
                <a:latin typeface="Calibri"/>
                <a:ea typeface="Arial"/>
              </a:rPr>
              <a:t>Exact dense search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Rounded Rectangle 134"/>
          <p:cNvSpPr/>
          <p:nvPr/>
        </p:nvSpPr>
        <p:spPr>
          <a:xfrm>
            <a:off x="7918560" y="1828800"/>
            <a:ext cx="3346200" cy="1919880"/>
          </a:xfrm>
          <a:prstGeom prst="roundRect">
            <a:avLst>
              <a:gd name="adj" fmla="val 6000"/>
            </a:avLst>
          </a:prstGeom>
          <a:solidFill>
            <a:srgbClr val="F3F0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63" name="Oval 135"/>
          <p:cNvSpPr/>
          <p:nvPr/>
        </p:nvSpPr>
        <p:spPr>
          <a:xfrm>
            <a:off x="8037720" y="1965960"/>
            <a:ext cx="365400" cy="365400"/>
          </a:xfrm>
          <a:prstGeom prst="ellipse">
            <a:avLst/>
          </a:prstGeom>
          <a:solidFill>
            <a:srgbClr val="0D948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Box 136"/>
          <p:cNvSpPr/>
          <p:nvPr/>
        </p:nvSpPr>
        <p:spPr>
          <a:xfrm>
            <a:off x="8467200" y="1974960"/>
            <a:ext cx="2568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>
              <a:lnSpc>
                <a:spcPct val="100000"/>
              </a:lnSpc>
            </a:pPr>
            <a:r>
              <a:rPr lang="en-US" sz="1300" b="1" u="none" strike="noStrike">
                <a:solidFill>
                  <a:srgbClr val="14142B"/>
                </a:solidFill>
                <a:effectLst/>
                <a:uFillTx/>
                <a:latin typeface="Calibri"/>
                <a:ea typeface="Arial"/>
              </a:rPr>
              <a:t>ML / embeddings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Box 137"/>
          <p:cNvSpPr/>
          <p:nvPr/>
        </p:nvSpPr>
        <p:spPr>
          <a:xfrm>
            <a:off x="8174880" y="2395800"/>
            <a:ext cx="283428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182880" indent="-182880">
              <a:lnSpc>
                <a:spcPct val="110000"/>
              </a:lnSpc>
              <a:spcAft>
                <a:spcPts val="499"/>
              </a:spcAft>
              <a:buClr>
                <a:srgbClr val="0D9488"/>
              </a:buClr>
              <a:buFont typeface="Arial"/>
              <a:buChar char="•"/>
            </a:pPr>
            <a:r>
              <a:rPr lang="en-US" sz="1100" b="0" u="none" strike="noStrike">
                <a:solidFill>
                  <a:srgbClr val="14142B"/>
                </a:solidFill>
                <a:effectLst/>
                <a:uFillTx/>
                <a:latin typeface="Calibri"/>
                <a:ea typeface="Arial"/>
              </a:rPr>
              <a:t>PyTorch (CPU build)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" indent="-182880">
              <a:lnSpc>
                <a:spcPct val="110000"/>
              </a:lnSpc>
              <a:spcAft>
                <a:spcPts val="499"/>
              </a:spcAft>
              <a:buClr>
                <a:srgbClr val="0D9488"/>
              </a:buClr>
              <a:buFont typeface="Arial"/>
              <a:buChar char="•"/>
            </a:pPr>
            <a:r>
              <a:rPr lang="en-US" sz="1100" b="0" u="none" strike="noStrike">
                <a:solidFill>
                  <a:srgbClr val="14142B"/>
                </a:solidFill>
                <a:effectLst/>
                <a:uFillTx/>
                <a:latin typeface="Calibri"/>
                <a:ea typeface="Arial"/>
              </a:rPr>
              <a:t>Sentence-Transformers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" indent="-182880">
              <a:lnSpc>
                <a:spcPct val="110000"/>
              </a:lnSpc>
              <a:spcAft>
                <a:spcPts val="499"/>
              </a:spcAft>
              <a:buClr>
                <a:srgbClr val="0D9488"/>
              </a:buClr>
              <a:buFont typeface="Arial"/>
              <a:buChar char="•"/>
            </a:pPr>
            <a:r>
              <a:rPr lang="en-US" sz="1100" b="0" u="none" strike="noStrike">
                <a:solidFill>
                  <a:srgbClr val="14142B"/>
                </a:solidFill>
                <a:effectLst/>
                <a:uFillTx/>
                <a:latin typeface="Calibri"/>
                <a:ea typeface="Arial"/>
              </a:rPr>
              <a:t>e5-base-v2, jina-code-embeddings-0.5b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Rounded Rectangle 138"/>
          <p:cNvSpPr/>
          <p:nvPr/>
        </p:nvSpPr>
        <p:spPr>
          <a:xfrm>
            <a:off x="841320" y="3950280"/>
            <a:ext cx="3346200" cy="1919880"/>
          </a:xfrm>
          <a:prstGeom prst="roundRect">
            <a:avLst>
              <a:gd name="adj" fmla="val 6000"/>
            </a:avLst>
          </a:prstGeom>
          <a:solidFill>
            <a:srgbClr val="EEF6F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67" name="Oval 139"/>
          <p:cNvSpPr/>
          <p:nvPr/>
        </p:nvSpPr>
        <p:spPr>
          <a:xfrm>
            <a:off x="960120" y="4087440"/>
            <a:ext cx="365400" cy="365400"/>
          </a:xfrm>
          <a:prstGeom prst="ellipse">
            <a:avLst/>
          </a:prstGeom>
          <a:solidFill>
            <a:srgbClr val="6D28D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Box 140"/>
          <p:cNvSpPr/>
          <p:nvPr/>
        </p:nvSpPr>
        <p:spPr>
          <a:xfrm>
            <a:off x="1389960" y="4096440"/>
            <a:ext cx="2568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>
              <a:lnSpc>
                <a:spcPct val="100000"/>
              </a:lnSpc>
            </a:pPr>
            <a:r>
              <a:rPr lang="en-US" sz="1300" b="1" u="none" strike="noStrike">
                <a:solidFill>
                  <a:srgbClr val="14142B"/>
                </a:solidFill>
                <a:effectLst/>
                <a:uFillTx/>
                <a:latin typeface="Calibri"/>
                <a:ea typeface="Arial"/>
              </a:rPr>
              <a:t>Evaluation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Box 141"/>
          <p:cNvSpPr/>
          <p:nvPr/>
        </p:nvSpPr>
        <p:spPr>
          <a:xfrm>
            <a:off x="1097280" y="4517280"/>
            <a:ext cx="283428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182880" indent="-182880">
              <a:lnSpc>
                <a:spcPct val="110000"/>
              </a:lnSpc>
              <a:spcAft>
                <a:spcPts val="499"/>
              </a:spcAft>
              <a:buClr>
                <a:srgbClr val="6D28D9"/>
              </a:buClr>
              <a:buFont typeface="Arial"/>
              <a:buChar char="•"/>
            </a:pPr>
            <a:r>
              <a:rPr lang="en-US" sz="1100" b="0" u="none" strike="noStrike">
                <a:solidFill>
                  <a:srgbClr val="14142B"/>
                </a:solidFill>
                <a:effectLst/>
                <a:uFillTx/>
                <a:latin typeface="Calibri"/>
                <a:ea typeface="Arial"/>
              </a:rPr>
              <a:t>mteb (official CoIR harness)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" indent="-182880">
              <a:lnSpc>
                <a:spcPct val="110000"/>
              </a:lnSpc>
              <a:spcAft>
                <a:spcPts val="499"/>
              </a:spcAft>
              <a:buClr>
                <a:srgbClr val="6D28D9"/>
              </a:buClr>
              <a:buFont typeface="Arial"/>
              <a:buChar char="•"/>
            </a:pPr>
            <a:r>
              <a:rPr lang="en-US" sz="1100" b="0" u="none" strike="noStrike">
                <a:solidFill>
                  <a:srgbClr val="14142B"/>
                </a:solidFill>
                <a:effectLst/>
                <a:uFillTx/>
                <a:latin typeface="Calibri"/>
                <a:ea typeface="Arial"/>
              </a:rPr>
              <a:t>pytrec_eval-terrier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" indent="-182880">
              <a:lnSpc>
                <a:spcPct val="110000"/>
              </a:lnSpc>
              <a:spcAft>
                <a:spcPts val="499"/>
              </a:spcAft>
              <a:buClr>
                <a:srgbClr val="6D28D9"/>
              </a:buClr>
              <a:buFont typeface="Arial"/>
              <a:buChar char="•"/>
            </a:pPr>
            <a:r>
              <a:rPr lang="en-US" sz="1100" b="0" u="none" strike="noStrike">
                <a:solidFill>
                  <a:srgbClr val="14142B"/>
                </a:solidFill>
                <a:effectLst/>
                <a:uFillTx/>
                <a:latin typeface="Calibri"/>
                <a:ea typeface="Arial"/>
              </a:rPr>
              <a:t>Pinned dataset/model revisions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Rounded Rectangle 142"/>
          <p:cNvSpPr/>
          <p:nvPr/>
        </p:nvSpPr>
        <p:spPr>
          <a:xfrm>
            <a:off x="4380120" y="3950280"/>
            <a:ext cx="3346200" cy="1919880"/>
          </a:xfrm>
          <a:prstGeom prst="roundRect">
            <a:avLst>
              <a:gd name="adj" fmla="val 6000"/>
            </a:avLst>
          </a:prstGeom>
          <a:solidFill>
            <a:srgbClr val="EEF6F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71" name="Oval 143"/>
          <p:cNvSpPr/>
          <p:nvPr/>
        </p:nvSpPr>
        <p:spPr>
          <a:xfrm>
            <a:off x="4498920" y="4087440"/>
            <a:ext cx="365400" cy="365400"/>
          </a:xfrm>
          <a:prstGeom prst="ellipse">
            <a:avLst/>
          </a:prstGeom>
          <a:solidFill>
            <a:srgbClr val="1F4CD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Box 144"/>
          <p:cNvSpPr/>
          <p:nvPr/>
        </p:nvSpPr>
        <p:spPr>
          <a:xfrm>
            <a:off x="4928760" y="4096440"/>
            <a:ext cx="2568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>
              <a:lnSpc>
                <a:spcPct val="100000"/>
              </a:lnSpc>
            </a:pPr>
            <a:r>
              <a:rPr lang="en-US" sz="1300" b="1" u="none" strike="noStrike">
                <a:solidFill>
                  <a:srgbClr val="14142B"/>
                </a:solidFill>
                <a:effectLst/>
                <a:uFillTx/>
                <a:latin typeface="Calibri"/>
                <a:ea typeface="Arial"/>
              </a:rPr>
              <a:t>Parsing &amp; storage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Box 145"/>
          <p:cNvSpPr/>
          <p:nvPr/>
        </p:nvSpPr>
        <p:spPr>
          <a:xfrm>
            <a:off x="4636080" y="4517280"/>
            <a:ext cx="283428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182880" indent="-182880">
              <a:lnSpc>
                <a:spcPct val="110000"/>
              </a:lnSpc>
              <a:spcAft>
                <a:spcPts val="499"/>
              </a:spcAft>
              <a:buClr>
                <a:srgbClr val="1F4CD8"/>
              </a:buClr>
              <a:buFont typeface="Arial"/>
              <a:buChar char="•"/>
            </a:pPr>
            <a:r>
              <a:rPr lang="en-US" sz="1100" b="0" u="none" strike="noStrike">
                <a:solidFill>
                  <a:srgbClr val="14142B"/>
                </a:solidFill>
                <a:effectLst/>
                <a:uFillTx/>
                <a:latin typeface="Calibri"/>
                <a:ea typeface="Arial"/>
              </a:rPr>
              <a:t>tree-sitter + tree-sitter-javascript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" indent="-182880">
              <a:lnSpc>
                <a:spcPct val="110000"/>
              </a:lnSpc>
              <a:spcAft>
                <a:spcPts val="499"/>
              </a:spcAft>
              <a:buClr>
                <a:srgbClr val="1F4CD8"/>
              </a:buClr>
              <a:buFont typeface="Arial"/>
              <a:buChar char="•"/>
            </a:pPr>
            <a:r>
              <a:rPr lang="en-US" sz="1100" b="0" u="none" strike="noStrike">
                <a:solidFill>
                  <a:srgbClr val="14142B"/>
                </a:solidFill>
                <a:effectLst/>
                <a:uFillTx/>
                <a:latin typeface="Calibri"/>
                <a:ea typeface="Arial"/>
              </a:rPr>
              <a:t>SQLite snapshot store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" indent="-182880">
              <a:lnSpc>
                <a:spcPct val="110000"/>
              </a:lnSpc>
              <a:spcAft>
                <a:spcPts val="499"/>
              </a:spcAft>
              <a:buClr>
                <a:srgbClr val="1F4CD8"/>
              </a:buClr>
              <a:buFont typeface="Arial"/>
              <a:buChar char="•"/>
            </a:pPr>
            <a:r>
              <a:rPr lang="en-US" sz="1100" b="0" u="none" strike="noStrike">
                <a:solidFill>
                  <a:srgbClr val="14142B"/>
                </a:solidFill>
                <a:effectLst/>
                <a:uFillTx/>
                <a:latin typeface="Calibri"/>
                <a:ea typeface="Arial"/>
              </a:rPr>
              <a:t>sha256 content-addressed cache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Rounded Rectangle 146"/>
          <p:cNvSpPr/>
          <p:nvPr/>
        </p:nvSpPr>
        <p:spPr>
          <a:xfrm>
            <a:off x="7918560" y="3950280"/>
            <a:ext cx="3346200" cy="1919880"/>
          </a:xfrm>
          <a:prstGeom prst="roundRect">
            <a:avLst>
              <a:gd name="adj" fmla="val 6000"/>
            </a:avLst>
          </a:prstGeom>
          <a:solidFill>
            <a:srgbClr val="EEF6F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75" name="Oval 147"/>
          <p:cNvSpPr/>
          <p:nvPr/>
        </p:nvSpPr>
        <p:spPr>
          <a:xfrm>
            <a:off x="8037720" y="4087440"/>
            <a:ext cx="365400" cy="365400"/>
          </a:xfrm>
          <a:prstGeom prst="ellipse">
            <a:avLst/>
          </a:prstGeom>
          <a:solidFill>
            <a:srgbClr val="0D948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Box 148"/>
          <p:cNvSpPr/>
          <p:nvPr/>
        </p:nvSpPr>
        <p:spPr>
          <a:xfrm>
            <a:off x="8467200" y="4096440"/>
            <a:ext cx="2568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>
              <a:lnSpc>
                <a:spcPct val="100000"/>
              </a:lnSpc>
            </a:pPr>
            <a:r>
              <a:rPr lang="en-US" sz="1300" b="1" u="none" strike="noStrike">
                <a:solidFill>
                  <a:srgbClr val="14142B"/>
                </a:solidFill>
                <a:effectLst/>
                <a:uFillTx/>
                <a:latin typeface="Calibri"/>
                <a:ea typeface="Arial"/>
              </a:rPr>
              <a:t>Testing &amp; data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Box 149"/>
          <p:cNvSpPr/>
          <p:nvPr/>
        </p:nvSpPr>
        <p:spPr>
          <a:xfrm>
            <a:off x="8174880" y="4517280"/>
            <a:ext cx="283428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182880" indent="-182880">
              <a:lnSpc>
                <a:spcPct val="110000"/>
              </a:lnSpc>
              <a:spcAft>
                <a:spcPts val="499"/>
              </a:spcAft>
              <a:buClr>
                <a:srgbClr val="0D9488"/>
              </a:buClr>
              <a:buFont typeface="Arial"/>
              <a:buChar char="•"/>
            </a:pPr>
            <a:r>
              <a:rPr lang="en-US" sz="1100" b="0" u="none" strike="noStrike">
                <a:solidFill>
                  <a:srgbClr val="14142B"/>
                </a:solidFill>
                <a:effectLst/>
                <a:uFillTx/>
                <a:latin typeface="Calibri"/>
                <a:ea typeface="Arial"/>
              </a:rPr>
              <a:t>pytest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" indent="-182880">
              <a:lnSpc>
                <a:spcPct val="110000"/>
              </a:lnSpc>
              <a:spcAft>
                <a:spcPts val="499"/>
              </a:spcAft>
              <a:buClr>
                <a:srgbClr val="0D9488"/>
              </a:buClr>
              <a:buFont typeface="Arial"/>
              <a:buChar char="•"/>
            </a:pPr>
            <a:r>
              <a:rPr lang="en-US" sz="1100" b="0" u="none" strike="noStrike">
                <a:solidFill>
                  <a:srgbClr val="14142B"/>
                </a:solidFill>
                <a:effectLst/>
                <a:uFillTx/>
                <a:latin typeface="Calibri"/>
                <a:ea typeface="Arial"/>
              </a:rPr>
              <a:t>Hugging Face datasets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" indent="-182880">
              <a:lnSpc>
                <a:spcPct val="110000"/>
              </a:lnSpc>
              <a:spcAft>
                <a:spcPts val="499"/>
              </a:spcAft>
              <a:buClr>
                <a:srgbClr val="0D9488"/>
              </a:buClr>
              <a:buFont typeface="Arial"/>
              <a:buChar char="•"/>
            </a:pPr>
            <a:r>
              <a:rPr lang="en-US" sz="1100" b="0" u="none" strike="noStrike">
                <a:solidFill>
                  <a:srgbClr val="14142B"/>
                </a:solidFill>
                <a:effectLst/>
                <a:uFillTx/>
                <a:latin typeface="Calibri"/>
                <a:ea typeface="Arial"/>
              </a:rPr>
              <a:t>CoIR-Retrieval/apps (pinned revision)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l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1" u="none" strike="noStrike">
                <a:solidFill>
                  <a:srgbClr val="704EA6"/>
                </a:solidFill>
                <a:effectLst/>
                <a:uFillTx/>
                <a:latin typeface="Calibri"/>
                <a:ea typeface="Calibri"/>
              </a:rPr>
              <a:t>Impact &amp; Use case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0" name="Rounded Rectangle 132"/>
          <p:cNvSpPr/>
          <p:nvPr/>
        </p:nvSpPr>
        <p:spPr>
          <a:xfrm>
            <a:off x="841320" y="1828800"/>
            <a:ext cx="5074560" cy="1782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E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81" name="Oval 133"/>
          <p:cNvSpPr/>
          <p:nvPr/>
        </p:nvSpPr>
        <p:spPr>
          <a:xfrm>
            <a:off x="996840" y="1984320"/>
            <a:ext cx="456840" cy="456840"/>
          </a:xfrm>
          <a:prstGeom prst="ellipse">
            <a:avLst/>
          </a:prstGeom>
          <a:solidFill>
            <a:srgbClr val="6D28D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Box 134"/>
          <p:cNvSpPr/>
          <p:nvPr/>
        </p:nvSpPr>
        <p:spPr>
          <a:xfrm>
            <a:off x="1097280" y="2606040"/>
            <a:ext cx="45626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450" b="1" u="none" strike="noStrike">
                <a:solidFill>
                  <a:srgbClr val="14142B"/>
                </a:solidFill>
                <a:effectLst/>
                <a:uFillTx/>
                <a:latin typeface="Calibri"/>
                <a:ea typeface="Arial"/>
              </a:rPr>
              <a:t>Search legacy codebases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Bef>
                <a:spcPts val="499"/>
              </a:spcBef>
            </a:pPr>
            <a:r>
              <a:rPr lang="en-US" sz="1150" b="0" u="none" strike="noStrike">
                <a:solidFill>
                  <a:srgbClr val="63637E"/>
                </a:solidFill>
                <a:effectLst/>
                <a:uFillTx/>
                <a:latin typeface="Calibri"/>
                <a:ea typeface="Arial"/>
              </a:rPr>
              <a:t>Natural-language queries instead of exact-keyword grep across code nobody remembers the names in.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Rounded Rectangle 135"/>
          <p:cNvSpPr/>
          <p:nvPr/>
        </p:nvSpPr>
        <p:spPr>
          <a:xfrm>
            <a:off x="6282000" y="1828800"/>
            <a:ext cx="5074560" cy="1782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E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84" name="Oval 136"/>
          <p:cNvSpPr/>
          <p:nvPr/>
        </p:nvSpPr>
        <p:spPr>
          <a:xfrm>
            <a:off x="6437520" y="1984320"/>
            <a:ext cx="456840" cy="456840"/>
          </a:xfrm>
          <a:prstGeom prst="ellipse">
            <a:avLst/>
          </a:prstGeom>
          <a:solidFill>
            <a:srgbClr val="1F4CD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Box 137"/>
          <p:cNvSpPr/>
          <p:nvPr/>
        </p:nvSpPr>
        <p:spPr>
          <a:xfrm>
            <a:off x="6537960" y="2606040"/>
            <a:ext cx="45626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450" b="1" u="none" strike="noStrike">
                <a:solidFill>
                  <a:srgbClr val="14142B"/>
                </a:solidFill>
                <a:effectLst/>
                <a:uFillTx/>
                <a:latin typeface="Calibri"/>
                <a:ea typeface="Arial"/>
              </a:rPr>
              <a:t>Faster regression triage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Bef>
                <a:spcPts val="499"/>
              </a:spcBef>
            </a:pPr>
            <a:r>
              <a:rPr lang="en-US" sz="1150" b="0" u="none" strike="noStrike">
                <a:solidFill>
                  <a:srgbClr val="63637E"/>
                </a:solidFill>
                <a:effectLst/>
                <a:uFillTx/>
                <a:latin typeface="Calibri"/>
                <a:ea typeface="Arial"/>
              </a:rPr>
              <a:t>“How did this function used to work?” is answerable directly, instead of manually bisecting commits.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Rounded Rectangle 138"/>
          <p:cNvSpPr/>
          <p:nvPr/>
        </p:nvSpPr>
        <p:spPr>
          <a:xfrm>
            <a:off x="841320" y="3840480"/>
            <a:ext cx="5074560" cy="1782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E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87" name="Oval 139"/>
          <p:cNvSpPr/>
          <p:nvPr/>
        </p:nvSpPr>
        <p:spPr>
          <a:xfrm>
            <a:off x="996840" y="3996000"/>
            <a:ext cx="456840" cy="456840"/>
          </a:xfrm>
          <a:prstGeom prst="ellipse">
            <a:avLst/>
          </a:prstGeom>
          <a:solidFill>
            <a:srgbClr val="0D948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Box 140"/>
          <p:cNvSpPr/>
          <p:nvPr/>
        </p:nvSpPr>
        <p:spPr>
          <a:xfrm>
            <a:off x="1097280" y="4617720"/>
            <a:ext cx="45626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450" b="1" u="none" strike="noStrike">
                <a:solidFill>
                  <a:srgbClr val="14142B"/>
                </a:solidFill>
                <a:effectLst/>
                <a:uFillTx/>
                <a:latin typeface="Calibri"/>
                <a:ea typeface="Arial"/>
              </a:rPr>
              <a:t>Faster onboarding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Bef>
                <a:spcPts val="499"/>
              </a:spcBef>
            </a:pPr>
            <a:r>
              <a:rPr lang="en-US" sz="1150" b="0" u="none" strike="noStrike">
                <a:solidFill>
                  <a:srgbClr val="63637E"/>
                </a:solidFill>
                <a:effectLst/>
                <a:uFillTx/>
                <a:latin typeface="Calibri"/>
                <a:ea typeface="Arial"/>
              </a:rPr>
              <a:t>New engineers can search for behaviour, not identifiers, when they don't yet know the codebase's names.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Rounded Rectangle 141"/>
          <p:cNvSpPr/>
          <p:nvPr/>
        </p:nvSpPr>
        <p:spPr>
          <a:xfrm>
            <a:off x="6282000" y="3840480"/>
            <a:ext cx="5074560" cy="1782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E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90" name="Oval 142"/>
          <p:cNvSpPr/>
          <p:nvPr/>
        </p:nvSpPr>
        <p:spPr>
          <a:xfrm>
            <a:off x="6437520" y="3996000"/>
            <a:ext cx="456840" cy="456840"/>
          </a:xfrm>
          <a:prstGeom prst="ellipse">
            <a:avLst/>
          </a:prstGeom>
          <a:solidFill>
            <a:srgbClr val="6D28D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Box 143"/>
          <p:cNvSpPr/>
          <p:nvPr/>
        </p:nvSpPr>
        <p:spPr>
          <a:xfrm>
            <a:off x="6537960" y="4617720"/>
            <a:ext cx="45626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450" b="1" u="none" strike="noStrike">
                <a:solidFill>
                  <a:srgbClr val="14142B"/>
                </a:solidFill>
                <a:effectLst/>
                <a:uFillTx/>
                <a:latin typeface="Calibri"/>
                <a:ea typeface="Arial"/>
              </a:rPr>
              <a:t>On-prem / CPU budgets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Bef>
                <a:spcPts val="499"/>
              </a:spcBef>
            </a:pPr>
            <a:r>
              <a:rPr lang="en-US" sz="1150" b="0" u="none" strike="noStrike">
                <a:solidFill>
                  <a:srgbClr val="63637E"/>
                </a:solidFill>
                <a:effectLst/>
                <a:uFillTx/>
                <a:latin typeface="Calibri"/>
                <a:ea typeface="Arial"/>
              </a:rPr>
              <a:t>No GPU cluster or cloud dependency — fits cost- or compliance-constrained engineering environments.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Rounded Rectangle 144"/>
          <p:cNvSpPr/>
          <p:nvPr/>
        </p:nvSpPr>
        <p:spPr>
          <a:xfrm>
            <a:off x="841320" y="5788080"/>
            <a:ext cx="10515240" cy="502560"/>
          </a:xfrm>
          <a:prstGeom prst="roundRect">
            <a:avLst>
              <a:gd name="adj" fmla="val 14000"/>
            </a:avLst>
          </a:prstGeom>
          <a:solidFill>
            <a:srgbClr val="EEF6F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Box 145"/>
          <p:cNvSpPr/>
          <p:nvPr/>
        </p:nvSpPr>
        <p:spPr>
          <a:xfrm>
            <a:off x="1115640" y="5788080"/>
            <a:ext cx="99666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>
              <a:lnSpc>
                <a:spcPct val="100000"/>
              </a:lnSpc>
            </a:pPr>
            <a:r>
              <a:rPr lang="en-US" sz="1250" b="1" u="none" strike="noStrike">
                <a:solidFill>
                  <a:srgbClr val="0D9488"/>
                </a:solidFill>
                <a:effectLst/>
                <a:uFillTx/>
                <a:latin typeface="Calibri"/>
                <a:ea typeface="Arial"/>
              </a:rPr>
              <a:t>Benchmark-driven iteration — </a:t>
            </a:r>
            <a:r>
              <a:rPr lang="en-US" sz="1250" b="0" u="none" strike="noStrike">
                <a:solidFill>
                  <a:srgbClr val="14142B"/>
                </a:solidFill>
                <a:effectLst/>
                <a:uFillTx/>
                <a:latin typeface="Calibri"/>
                <a:ea typeface="Arial"/>
              </a:rPr>
              <a:t>improvements are measured against the official CoIR leaderboard, not judged ad hoc.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l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1" u="none" strike="noStrike">
                <a:solidFill>
                  <a:srgbClr val="704EA6"/>
                </a:solidFill>
                <a:effectLst/>
                <a:uFillTx/>
                <a:latin typeface="Calibri"/>
                <a:ea typeface="Calibri"/>
              </a:rPr>
              <a:t>Innovation highlights, results and limitations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6" name="Rounded Rectangle 138"/>
          <p:cNvSpPr/>
          <p:nvPr/>
        </p:nvSpPr>
        <p:spPr>
          <a:xfrm>
            <a:off x="841320" y="1828800"/>
            <a:ext cx="3346200" cy="1005480"/>
          </a:xfrm>
          <a:prstGeom prst="roundRect">
            <a:avLst>
              <a:gd name="adj" fmla="val 10000"/>
            </a:avLst>
          </a:prstGeom>
          <a:solidFill>
            <a:srgbClr val="F3F0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Box 139"/>
          <p:cNvSpPr/>
          <p:nvPr/>
        </p:nvSpPr>
        <p:spPr>
          <a:xfrm>
            <a:off x="1024200" y="1901880"/>
            <a:ext cx="2980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600" b="1" u="none" strike="noStrike">
                <a:solidFill>
                  <a:srgbClr val="6D28D9"/>
                </a:solidFill>
                <a:effectLst/>
                <a:uFillTx/>
                <a:latin typeface="Calibri"/>
                <a:ea typeface="Arial"/>
              </a:rPr>
              <a:t>0.1152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Box 140"/>
          <p:cNvSpPr/>
          <p:nvPr/>
        </p:nvSpPr>
        <p:spPr>
          <a:xfrm>
            <a:off x="1024200" y="2450520"/>
            <a:ext cx="2980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/>
            <a:r>
              <a:rPr lang="en-US" sz="950" b="0" u="none" strike="noStrike">
                <a:solidFill>
                  <a:srgbClr val="63637E"/>
                </a:solidFill>
                <a:effectLst/>
                <a:uFillTx/>
                <a:latin typeface="Calibri"/>
                <a:ea typeface="Arial"/>
              </a:rPr>
              <a:t>NDCG@10, official test split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950" b="0" u="none" strike="noStrike">
                <a:solidFill>
                  <a:srgbClr val="63637E"/>
                </a:solidFill>
                <a:effectLst/>
                <a:uFillTx/>
                <a:latin typeface="Calibri"/>
                <a:ea typeface="Arial"/>
              </a:rPr>
              <a:t>(e5-base-v2, mteb.evaluate)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Rounded Rectangle 141"/>
          <p:cNvSpPr/>
          <p:nvPr/>
        </p:nvSpPr>
        <p:spPr>
          <a:xfrm>
            <a:off x="4380120" y="1828800"/>
            <a:ext cx="3346200" cy="1005480"/>
          </a:xfrm>
          <a:prstGeom prst="roundRect">
            <a:avLst>
              <a:gd name="adj" fmla="val 10000"/>
            </a:avLst>
          </a:prstGeom>
          <a:solidFill>
            <a:srgbClr val="F3F0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Box 142"/>
          <p:cNvSpPr/>
          <p:nvPr/>
        </p:nvSpPr>
        <p:spPr>
          <a:xfrm>
            <a:off x="4563000" y="1901880"/>
            <a:ext cx="2980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600" b="1" u="none" strike="noStrike">
                <a:solidFill>
                  <a:srgbClr val="6D28D9"/>
                </a:solidFill>
                <a:effectLst/>
                <a:uFillTx/>
                <a:latin typeface="Calibri"/>
                <a:ea typeface="Arial"/>
              </a:rPr>
              <a:t>~90×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Box 143"/>
          <p:cNvSpPr/>
          <p:nvPr/>
        </p:nvSpPr>
        <p:spPr>
          <a:xfrm>
            <a:off x="4563000" y="2450520"/>
            <a:ext cx="2980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/>
            <a:r>
              <a:rPr lang="en-US" sz="950" b="0" u="none" strike="noStrike">
                <a:solidFill>
                  <a:srgbClr val="63637E"/>
                </a:solidFill>
                <a:effectLst/>
                <a:uFillTx/>
                <a:latin typeface="Calibri"/>
                <a:ea typeface="Arial"/>
              </a:rPr>
              <a:t>faster incremental commit indexing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950" b="0" u="none" strike="noStrike">
                <a:solidFill>
                  <a:srgbClr val="63637E"/>
                </a:solidFill>
                <a:effectLst/>
                <a:uFillTx/>
                <a:latin typeface="Calibri"/>
                <a:ea typeface="Arial"/>
              </a:rPr>
              <a:t>vs. cold full rebuild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Rounded Rectangle 144"/>
          <p:cNvSpPr/>
          <p:nvPr/>
        </p:nvSpPr>
        <p:spPr>
          <a:xfrm>
            <a:off x="7918560" y="1828800"/>
            <a:ext cx="3346200" cy="1005480"/>
          </a:xfrm>
          <a:prstGeom prst="roundRect">
            <a:avLst>
              <a:gd name="adj" fmla="val 10000"/>
            </a:avLst>
          </a:prstGeom>
          <a:solidFill>
            <a:srgbClr val="F3F0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Box 145"/>
          <p:cNvSpPr/>
          <p:nvPr/>
        </p:nvSpPr>
        <p:spPr>
          <a:xfrm>
            <a:off x="8101440" y="1901880"/>
            <a:ext cx="2980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600" b="1" u="none" strike="noStrike">
                <a:solidFill>
                  <a:srgbClr val="6D28D9"/>
                </a:solidFill>
                <a:effectLst/>
                <a:uFillTx/>
                <a:latin typeface="Calibri"/>
                <a:ea typeface="Arial"/>
              </a:rPr>
              <a:t>0.969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Box 146"/>
          <p:cNvSpPr/>
          <p:nvPr/>
        </p:nvSpPr>
        <p:spPr>
          <a:xfrm>
            <a:off x="8101440" y="2450520"/>
            <a:ext cx="2980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/>
            <a:r>
              <a:rPr lang="en-US" sz="950" b="0" u="none" strike="noStrike">
                <a:solidFill>
                  <a:srgbClr val="63637E"/>
                </a:solidFill>
                <a:effectLst/>
                <a:uFillTx/>
                <a:latin typeface="Calibri"/>
                <a:ea typeface="Arial"/>
              </a:rPr>
              <a:t>Snapshot-search MRR on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950" b="0" u="none" strike="noStrike">
                <a:solidFill>
                  <a:srgbClr val="63637E"/>
                </a:solidFill>
                <a:effectLst/>
                <a:uFillTx/>
                <a:latin typeface="Calibri"/>
                <a:ea typeface="Arial"/>
              </a:rPr>
              <a:t>16 version-labelled queries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Rounded Rectangle 147"/>
          <p:cNvSpPr/>
          <p:nvPr/>
        </p:nvSpPr>
        <p:spPr>
          <a:xfrm>
            <a:off x="841320" y="3090600"/>
            <a:ext cx="5074560" cy="3062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D6E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06" name="Rounded Rectangle 148"/>
          <p:cNvSpPr/>
          <p:nvPr/>
        </p:nvSpPr>
        <p:spPr>
          <a:xfrm>
            <a:off x="6282000" y="3090600"/>
            <a:ext cx="5074560" cy="3062880"/>
          </a:xfrm>
          <a:prstGeom prst="roundRect">
            <a:avLst>
              <a:gd name="adj" fmla="val 4000"/>
            </a:avLst>
          </a:prstGeom>
          <a:solidFill>
            <a:srgbClr val="EEF6F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Box 149"/>
          <p:cNvSpPr/>
          <p:nvPr/>
        </p:nvSpPr>
        <p:spPr>
          <a:xfrm>
            <a:off x="1097280" y="3237120"/>
            <a:ext cx="4562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350" b="1" u="none" strike="noStrike">
                <a:solidFill>
                  <a:srgbClr val="6D28D9"/>
                </a:solidFill>
                <a:effectLst/>
                <a:uFillTx/>
                <a:latin typeface="Calibri"/>
                <a:ea typeface="Arial"/>
              </a:rPr>
              <a:t>Innovation highlights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Box 150"/>
          <p:cNvSpPr/>
          <p:nvPr/>
        </p:nvSpPr>
        <p:spPr>
          <a:xfrm>
            <a:off x="1097280" y="3620880"/>
            <a:ext cx="4562640" cy="242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182880" indent="-182880">
              <a:lnSpc>
                <a:spcPct val="112000"/>
              </a:lnSpc>
              <a:spcAft>
                <a:spcPts val="799"/>
              </a:spcAft>
              <a:buClr>
                <a:srgbClr val="704EA6"/>
              </a:buClr>
              <a:buFont typeface="Arial"/>
              <a:buChar char="•"/>
            </a:pPr>
            <a:r>
              <a:rPr lang="en-US" sz="1150" b="1" u="none" strike="noStrike">
                <a:solidFill>
                  <a:srgbClr val="14142B"/>
                </a:solidFill>
                <a:effectLst/>
                <a:uFillTx/>
                <a:latin typeface="Calibri"/>
                <a:ea typeface="Arial"/>
              </a:rPr>
              <a:t>Content-addressed indexing — </a:t>
            </a:r>
            <a:r>
              <a:rPr lang="en-US" sz="1150" b="0" u="none" strike="noStrike">
                <a:solidFill>
                  <a:srgbClr val="14142B"/>
                </a:solidFill>
                <a:effectLst/>
                <a:uFillTx/>
                <a:latin typeface="Calibri"/>
                <a:ea typeface="Arial"/>
              </a:rPr>
              <a:t>sha256(code) dedup means only genuinely new code is ever re-embedded, verified equal to a full rebuild by an automated test.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" indent="-182880">
              <a:lnSpc>
                <a:spcPct val="112000"/>
              </a:lnSpc>
              <a:spcAft>
                <a:spcPts val="799"/>
              </a:spcAft>
              <a:buClr>
                <a:srgbClr val="704EA6"/>
              </a:buClr>
              <a:buFont typeface="Arial"/>
              <a:buChar char="•"/>
            </a:pPr>
            <a:r>
              <a:rPr lang="en-US" sz="1150" b="1" u="none" strike="noStrike">
                <a:solidFill>
                  <a:srgbClr val="14142B"/>
                </a:solidFill>
                <a:effectLst/>
                <a:uFillTx/>
                <a:latin typeface="Calibri"/>
                <a:ea typeface="Arial"/>
              </a:rPr>
              <a:t>Version-aware history search — </a:t>
            </a:r>
            <a:r>
              <a:rPr lang="en-US" sz="1150" b="0" u="none" strike="noStrike">
                <a:solidFill>
                  <a:srgbClr val="14142B"/>
                </a:solidFill>
                <a:effectLst/>
                <a:uFillTx/>
                <a:latin typeface="Calibri"/>
                <a:ea typeface="Arial"/>
              </a:rPr>
              <a:t>retrieves matching functions across every commit, and surfaces the diff to the nearest other version.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" indent="-182880">
              <a:lnSpc>
                <a:spcPct val="112000"/>
              </a:lnSpc>
              <a:spcAft>
                <a:spcPts val="799"/>
              </a:spcAft>
              <a:buClr>
                <a:srgbClr val="704EA6"/>
              </a:buClr>
              <a:buFont typeface="Arial"/>
              <a:buChar char="•"/>
            </a:pPr>
            <a:r>
              <a:rPr lang="en-US" sz="1150" b="1" u="none" strike="noStrike">
                <a:solidFill>
                  <a:srgbClr val="14142B"/>
                </a:solidFill>
                <a:effectLst/>
                <a:uFillTx/>
                <a:latin typeface="Calibri"/>
                <a:ea typeface="Arial"/>
              </a:rPr>
              <a:t>Reproducible by construction — </a:t>
            </a:r>
            <a:r>
              <a:rPr lang="en-US" sz="1150" b="0" u="none" strike="noStrike">
                <a:solidFill>
                  <a:srgbClr val="14142B"/>
                </a:solidFill>
                <a:effectLst/>
                <a:uFillTx/>
                <a:latin typeface="Calibri"/>
                <a:ea typeface="Arial"/>
              </a:rPr>
              <a:t>dataset and model revisions are pinned (configs/pins.yaml); every number is scored through the official mteb harness.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Box 151"/>
          <p:cNvSpPr/>
          <p:nvPr/>
        </p:nvSpPr>
        <p:spPr>
          <a:xfrm>
            <a:off x="6537960" y="3237120"/>
            <a:ext cx="4562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350" b="1" u="none" strike="noStrike">
                <a:solidFill>
                  <a:srgbClr val="0D9488"/>
                </a:solidFill>
                <a:effectLst/>
                <a:uFillTx/>
                <a:latin typeface="Calibri"/>
                <a:ea typeface="Arial"/>
              </a:rPr>
              <a:t>Limitations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Box 152"/>
          <p:cNvSpPr/>
          <p:nvPr/>
        </p:nvSpPr>
        <p:spPr>
          <a:xfrm>
            <a:off x="6537960" y="3620880"/>
            <a:ext cx="4562640" cy="242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182880" indent="-182880">
              <a:lnSpc>
                <a:spcPct val="112000"/>
              </a:lnSpc>
              <a:spcAft>
                <a:spcPts val="799"/>
              </a:spcAft>
              <a:buClr>
                <a:srgbClr val="0D9488"/>
              </a:buClr>
              <a:buFont typeface="Arial"/>
              <a:buChar char="•"/>
            </a:pPr>
            <a:r>
              <a:rPr lang="en-US" sz="1150" b="0" u="none" strike="noStrike">
                <a:solidFill>
                  <a:srgbClr val="14142B"/>
                </a:solidFill>
                <a:effectLst/>
                <a:uFillTx/>
                <a:latin typeface="Calibri"/>
                <a:ea typeface="Arial"/>
              </a:rPr>
              <a:t>Version-track eval is 16 hand-written queries — checks the mechanism, not generalisation.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" indent="-182880">
              <a:lnSpc>
                <a:spcPct val="112000"/>
              </a:lnSpc>
              <a:spcAft>
                <a:spcPts val="799"/>
              </a:spcAft>
              <a:buClr>
                <a:srgbClr val="0D9488"/>
              </a:buClr>
              <a:buFont typeface="Arial"/>
              <a:buChar char="•"/>
            </a:pPr>
            <a:r>
              <a:rPr lang="en-US" sz="1150" b="0" u="none" strike="noStrike">
                <a:solidFill>
                  <a:srgbClr val="14142B"/>
                </a:solidFill>
                <a:effectLst/>
                <a:uFillTx/>
                <a:latin typeface="Calibri"/>
                <a:ea typeface="Arial"/>
              </a:rPr>
              <a:t>Train/test query styles differ in AppsRetrieval (contest-style vs. starter-code), limiting how far dev-tuning transfers.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" indent="-182880">
              <a:lnSpc>
                <a:spcPct val="112000"/>
              </a:lnSpc>
              <a:spcAft>
                <a:spcPts val="799"/>
              </a:spcAft>
              <a:buClr>
                <a:srgbClr val="0D9488"/>
              </a:buClr>
              <a:buFont typeface="Arial"/>
              <a:buChar char="•"/>
            </a:pPr>
            <a:r>
              <a:rPr lang="en-US" sz="1150" b="0" u="none" strike="noStrike">
                <a:solidFill>
                  <a:srgbClr val="14142B"/>
                </a:solidFill>
                <a:effectLst/>
                <a:uFillTx/>
                <a:latin typeface="Calibri"/>
                <a:ea typeface="Arial"/>
              </a:rPr>
              <a:t>jina-code-embeddings-0.5b did not finish a full run in the available CPU/time budget.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" indent="-182880">
              <a:lnSpc>
                <a:spcPct val="112000"/>
              </a:lnSpc>
              <a:spcAft>
                <a:spcPts val="799"/>
              </a:spcAft>
              <a:buClr>
                <a:srgbClr val="0D9488"/>
              </a:buClr>
              <a:buFont typeface="Arial"/>
              <a:buChar char="•"/>
            </a:pPr>
            <a:r>
              <a:rPr lang="en-US" sz="1150" b="0" u="none" strike="noStrike">
                <a:solidFill>
                  <a:srgbClr val="14142B"/>
                </a:solidFill>
                <a:effectLst/>
                <a:uFillTx/>
                <a:latin typeface="Calibri"/>
                <a:ea typeface="Arial"/>
              </a:rPr>
              <a:t>The version track currently parses JavaScript only (tree-sitter grammar scope).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l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1" u="none" strike="noStrike">
                <a:solidFill>
                  <a:srgbClr val="704EA6"/>
                </a:solidFill>
                <a:effectLst/>
                <a:uFillTx/>
                <a:latin typeface="Calibri"/>
                <a:ea typeface="Calibri"/>
              </a:rPr>
              <a:t>What’s next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cxnSp>
        <p:nvCxnSpPr>
          <p:cNvPr id="213" name="Connector 144"/>
          <p:cNvCxnSpPr/>
          <p:nvPr/>
        </p:nvCxnSpPr>
        <p:spPr>
          <a:xfrm>
            <a:off x="1892520" y="3794760"/>
            <a:ext cx="8412840" cy="360"/>
          </a:xfrm>
          <a:prstGeom prst="straightConnector1">
            <a:avLst/>
          </a:prstGeom>
          <a:ln>
            <a:solidFill>
              <a:srgbClr val="DDD6EE"/>
            </a:solidFill>
            <a:round/>
          </a:ln>
        </p:spPr>
      </p:cxnSp>
      <p:sp>
        <p:nvSpPr>
          <p:cNvPr id="214" name="Oval 145"/>
          <p:cNvSpPr/>
          <p:nvPr/>
        </p:nvSpPr>
        <p:spPr>
          <a:xfrm>
            <a:off x="1682640" y="3584520"/>
            <a:ext cx="420120" cy="420120"/>
          </a:xfrm>
          <a:prstGeom prst="ellipse">
            <a:avLst/>
          </a:prstGeom>
          <a:solidFill>
            <a:srgbClr val="6D28D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Arial"/>
              </a:rPr>
              <a:t>1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Box 146"/>
          <p:cNvSpPr/>
          <p:nvPr/>
        </p:nvSpPr>
        <p:spPr>
          <a:xfrm>
            <a:off x="841320" y="2377440"/>
            <a:ext cx="210276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300" b="1" u="none" strike="noStrike">
                <a:solidFill>
                  <a:srgbClr val="14142B"/>
                </a:solidFill>
                <a:effectLst/>
                <a:uFillTx/>
                <a:latin typeface="Calibri"/>
                <a:ea typeface="Arial"/>
              </a:rPr>
              <a:t>Multi-language history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10000"/>
              </a:lnSpc>
              <a:spcBef>
                <a:spcPts val="400"/>
              </a:spcBef>
            </a:pPr>
            <a:r>
              <a:rPr lang="en-US" sz="1100" b="0" u="none" strike="noStrike">
                <a:solidFill>
                  <a:srgbClr val="63637E"/>
                </a:solidFill>
                <a:effectLst/>
                <a:uFillTx/>
                <a:latin typeface="Calibri"/>
                <a:ea typeface="Arial"/>
              </a:rPr>
              <a:t>Add tree-sitter grammars beyond JS (Python, Java, TS).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Oval 147"/>
          <p:cNvSpPr/>
          <p:nvPr/>
        </p:nvSpPr>
        <p:spPr>
          <a:xfrm>
            <a:off x="3785760" y="3584520"/>
            <a:ext cx="420120" cy="420120"/>
          </a:xfrm>
          <a:prstGeom prst="ellipse">
            <a:avLst/>
          </a:prstGeom>
          <a:solidFill>
            <a:srgbClr val="1F4CD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Arial"/>
              </a:rPr>
              <a:t>2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Box 148"/>
          <p:cNvSpPr/>
          <p:nvPr/>
        </p:nvSpPr>
        <p:spPr>
          <a:xfrm>
            <a:off x="2944440" y="4206240"/>
            <a:ext cx="210276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300" b="1" u="none" strike="noStrike">
                <a:solidFill>
                  <a:srgbClr val="14142B"/>
                </a:solidFill>
                <a:effectLst/>
                <a:uFillTx/>
                <a:latin typeface="Calibri"/>
                <a:ea typeface="Arial"/>
              </a:rPr>
              <a:t>Learned re-ranking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10000"/>
              </a:lnSpc>
              <a:spcBef>
                <a:spcPts val="400"/>
              </a:spcBef>
            </a:pPr>
            <a:r>
              <a:rPr lang="en-US" sz="1100" b="0" u="none" strike="noStrike">
                <a:solidFill>
                  <a:srgbClr val="63637E"/>
                </a:solidFill>
                <a:effectLst/>
                <a:uFillTx/>
                <a:latin typeface="Calibri"/>
                <a:ea typeface="Arial"/>
              </a:rPr>
              <a:t>A cross-encoder over the fused top-k to close the NDCG gap cheaply.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Oval 149"/>
          <p:cNvSpPr/>
          <p:nvPr/>
        </p:nvSpPr>
        <p:spPr>
          <a:xfrm>
            <a:off x="5888880" y="3584520"/>
            <a:ext cx="420120" cy="420120"/>
          </a:xfrm>
          <a:prstGeom prst="ellipse">
            <a:avLst/>
          </a:prstGeom>
          <a:solidFill>
            <a:srgbClr val="0D948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Arial"/>
              </a:rPr>
              <a:t>3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Box 150"/>
          <p:cNvSpPr/>
          <p:nvPr/>
        </p:nvSpPr>
        <p:spPr>
          <a:xfrm>
            <a:off x="5047560" y="2377440"/>
            <a:ext cx="210276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300" b="1" u="none" strike="noStrike">
                <a:solidFill>
                  <a:srgbClr val="14142B"/>
                </a:solidFill>
                <a:effectLst/>
                <a:uFillTx/>
                <a:latin typeface="Calibri"/>
                <a:ea typeface="Arial"/>
              </a:rPr>
              <a:t>Finish jina-code eval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10000"/>
              </a:lnSpc>
              <a:spcBef>
                <a:spcPts val="400"/>
              </a:spcBef>
            </a:pPr>
            <a:r>
              <a:rPr lang="en-US" sz="1100" b="0" u="none" strike="noStrike">
                <a:solidFill>
                  <a:srgbClr val="63637E"/>
                </a:solidFill>
                <a:effectLst/>
                <a:uFillTx/>
                <a:latin typeface="Calibri"/>
                <a:ea typeface="Arial"/>
              </a:rPr>
              <a:t>Tune batching/quantisation to fit the CPU time budget.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Oval 151"/>
          <p:cNvSpPr/>
          <p:nvPr/>
        </p:nvSpPr>
        <p:spPr>
          <a:xfrm>
            <a:off x="7992000" y="3584520"/>
            <a:ext cx="420120" cy="420120"/>
          </a:xfrm>
          <a:prstGeom prst="ellipse">
            <a:avLst/>
          </a:prstGeom>
          <a:solidFill>
            <a:srgbClr val="6D28D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Arial"/>
              </a:rPr>
              <a:t>4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Box 152"/>
          <p:cNvSpPr/>
          <p:nvPr/>
        </p:nvSpPr>
        <p:spPr>
          <a:xfrm>
            <a:off x="7150680" y="4206240"/>
            <a:ext cx="210276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300" b="1" u="none" strike="noStrike">
                <a:solidFill>
                  <a:srgbClr val="14142B"/>
                </a:solidFill>
                <a:effectLst/>
                <a:uFillTx/>
                <a:latin typeface="Calibri"/>
                <a:ea typeface="Arial"/>
              </a:rPr>
              <a:t>Bigger version-eval set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10000"/>
              </a:lnSpc>
              <a:spcBef>
                <a:spcPts val="400"/>
              </a:spcBef>
            </a:pPr>
            <a:r>
              <a:rPr lang="en-US" sz="1100" b="0" u="none" strike="noStrike">
                <a:solidFill>
                  <a:srgbClr val="63637E"/>
                </a:solidFill>
                <a:effectLst/>
                <a:uFillTx/>
                <a:latin typeface="Calibri"/>
                <a:ea typeface="Arial"/>
              </a:rPr>
              <a:t>Grow past 16 hand-authored queries for a real generalisation check.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Oval 153"/>
          <p:cNvSpPr/>
          <p:nvPr/>
        </p:nvSpPr>
        <p:spPr>
          <a:xfrm>
            <a:off x="10095120" y="3584520"/>
            <a:ext cx="420120" cy="420120"/>
          </a:xfrm>
          <a:prstGeom prst="ellipse">
            <a:avLst/>
          </a:prstGeom>
          <a:solidFill>
            <a:srgbClr val="1F4CD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Arial"/>
              </a:rPr>
              <a:t>5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Box 154"/>
          <p:cNvSpPr/>
          <p:nvPr/>
        </p:nvSpPr>
        <p:spPr>
          <a:xfrm>
            <a:off x="9253800" y="2377440"/>
            <a:ext cx="210276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300" b="1" u="none" strike="noStrike">
                <a:solidFill>
                  <a:srgbClr val="14142B"/>
                </a:solidFill>
                <a:effectLst/>
                <a:uFillTx/>
                <a:latin typeface="Calibri"/>
                <a:ea typeface="Arial"/>
              </a:rPr>
              <a:t>Ship as a CLI / IDE tool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10000"/>
              </a:lnSpc>
              <a:spcBef>
                <a:spcPts val="400"/>
              </a:spcBef>
            </a:pPr>
            <a:r>
              <a:rPr lang="en-US" sz="1100" b="0" u="none" strike="noStrike">
                <a:solidFill>
                  <a:srgbClr val="63637E"/>
                </a:solidFill>
                <a:effectLst/>
                <a:uFillTx/>
                <a:latin typeface="Calibri"/>
                <a:ea typeface="Arial"/>
              </a:rPr>
              <a:t>search_history "query" inside an actual dev workflow.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l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1" u="none" strike="noStrike">
                <a:solidFill>
                  <a:srgbClr val="704EA6"/>
                </a:solidFill>
                <a:effectLst/>
                <a:uFillTx/>
                <a:latin typeface="Calibri"/>
                <a:ea typeface="Calibri"/>
              </a:rPr>
              <a:t>Brownie points slide( differentiation)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6" name="Rounded Rectangle 150"/>
          <p:cNvSpPr/>
          <p:nvPr/>
        </p:nvSpPr>
        <p:spPr>
          <a:xfrm>
            <a:off x="841320" y="1828800"/>
            <a:ext cx="5074560" cy="1965600"/>
          </a:xfrm>
          <a:prstGeom prst="roundRect">
            <a:avLst>
              <a:gd name="adj" fmla="val 6000"/>
            </a:avLst>
          </a:prstGeom>
          <a:solidFill>
            <a:srgbClr val="F3F0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27" name="Rounded Rectangle 151"/>
          <p:cNvSpPr/>
          <p:nvPr/>
        </p:nvSpPr>
        <p:spPr>
          <a:xfrm>
            <a:off x="1097280" y="2121480"/>
            <a:ext cx="127800" cy="127800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Box 152"/>
          <p:cNvSpPr/>
          <p:nvPr/>
        </p:nvSpPr>
        <p:spPr>
          <a:xfrm>
            <a:off x="1344240" y="2011680"/>
            <a:ext cx="42973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14142B"/>
                </a:solidFill>
                <a:effectLst/>
                <a:uFillTx/>
                <a:latin typeface="Calibri"/>
                <a:ea typeface="Arial"/>
              </a:rPr>
              <a:t>Falsifiable, not just claimed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Box 153"/>
          <p:cNvSpPr/>
          <p:nvPr/>
        </p:nvSpPr>
        <p:spPr>
          <a:xfrm>
            <a:off x="1097280" y="2487240"/>
            <a:ext cx="456264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15000"/>
              </a:lnSpc>
            </a:pPr>
            <a:r>
              <a:rPr lang="en-US" sz="1150" b="0" u="none" strike="noStrike">
                <a:solidFill>
                  <a:srgbClr val="63637E"/>
                </a:solidFill>
                <a:effectLst/>
                <a:uFillTx/>
                <a:latin typeface="Calibri"/>
                <a:ea typeface="Arial"/>
              </a:rPr>
              <a:t>Pinned dataset/model revisions, official mteb scoring, and an automated test proving incremental == full rebuild — checked, not asserted.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Rounded Rectangle 154"/>
          <p:cNvSpPr/>
          <p:nvPr/>
        </p:nvSpPr>
        <p:spPr>
          <a:xfrm>
            <a:off x="6282000" y="1828800"/>
            <a:ext cx="5074560" cy="1965600"/>
          </a:xfrm>
          <a:prstGeom prst="roundRect">
            <a:avLst>
              <a:gd name="adj" fmla="val 6000"/>
            </a:avLst>
          </a:prstGeom>
          <a:solidFill>
            <a:srgbClr val="EEF6F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31" name="Rounded Rectangle 155"/>
          <p:cNvSpPr/>
          <p:nvPr/>
        </p:nvSpPr>
        <p:spPr>
          <a:xfrm>
            <a:off x="6537960" y="2121480"/>
            <a:ext cx="127800" cy="127800"/>
          </a:xfrm>
          <a:prstGeom prst="roundRect">
            <a:avLst>
              <a:gd name="adj" fmla="val 50000"/>
            </a:avLst>
          </a:prstGeom>
          <a:solidFill>
            <a:srgbClr val="1F4CD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Box 156"/>
          <p:cNvSpPr/>
          <p:nvPr/>
        </p:nvSpPr>
        <p:spPr>
          <a:xfrm>
            <a:off x="6784920" y="2011680"/>
            <a:ext cx="42973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14142B"/>
                </a:solidFill>
                <a:effectLst/>
                <a:uFillTx/>
                <a:latin typeface="Calibri"/>
                <a:ea typeface="Arial"/>
              </a:rPr>
              <a:t>CPU-only by construction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Box 157"/>
          <p:cNvSpPr/>
          <p:nvPr/>
        </p:nvSpPr>
        <p:spPr>
          <a:xfrm>
            <a:off x="6537960" y="2487240"/>
            <a:ext cx="456264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15000"/>
              </a:lnSpc>
            </a:pPr>
            <a:r>
              <a:rPr lang="en-US" sz="1150" b="0" u="none" strike="noStrike">
                <a:solidFill>
                  <a:srgbClr val="63637E"/>
                </a:solidFill>
                <a:effectLst/>
                <a:uFillTx/>
                <a:latin typeface="Calibri"/>
                <a:ea typeface="Arial"/>
              </a:rPr>
              <a:t>Benchmarked on a genuinely resource-constrained machine — matches real on-prem/edge deployment, not a GPU fallback story.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Rounded Rectangle 158"/>
          <p:cNvSpPr/>
          <p:nvPr/>
        </p:nvSpPr>
        <p:spPr>
          <a:xfrm>
            <a:off x="841320" y="4023360"/>
            <a:ext cx="5074560" cy="1965600"/>
          </a:xfrm>
          <a:prstGeom prst="roundRect">
            <a:avLst>
              <a:gd name="adj" fmla="val 6000"/>
            </a:avLst>
          </a:prstGeom>
          <a:solidFill>
            <a:srgbClr val="F3F0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35" name="Rounded Rectangle 159"/>
          <p:cNvSpPr/>
          <p:nvPr/>
        </p:nvSpPr>
        <p:spPr>
          <a:xfrm>
            <a:off x="1097280" y="4316040"/>
            <a:ext cx="127800" cy="1278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Box 160"/>
          <p:cNvSpPr/>
          <p:nvPr/>
        </p:nvSpPr>
        <p:spPr>
          <a:xfrm>
            <a:off x="1344240" y="4206240"/>
            <a:ext cx="42973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14142B"/>
                </a:solidFill>
                <a:effectLst/>
                <a:uFillTx/>
                <a:latin typeface="Calibri"/>
                <a:ea typeface="Arial"/>
              </a:rPr>
              <a:t>A second, self-defined track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Box 161"/>
          <p:cNvSpPr/>
          <p:nvPr/>
        </p:nvSpPr>
        <p:spPr>
          <a:xfrm>
            <a:off x="1097280" y="4681800"/>
            <a:ext cx="456264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15000"/>
              </a:lnSpc>
            </a:pPr>
            <a:r>
              <a:rPr lang="en-US" sz="1150" b="0" u="none" strike="noStrike">
                <a:solidFill>
                  <a:srgbClr val="63637E"/>
                </a:solidFill>
                <a:effectLst/>
                <a:uFillTx/>
                <a:latin typeface="Calibri"/>
                <a:ea typeface="Arial"/>
              </a:rPr>
              <a:t>Most submissions stop at the required benchmark; this adds full git-history-aware code search with cross-version diffing.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Rounded Rectangle 162"/>
          <p:cNvSpPr/>
          <p:nvPr/>
        </p:nvSpPr>
        <p:spPr>
          <a:xfrm>
            <a:off x="6282000" y="4023360"/>
            <a:ext cx="5074560" cy="1965600"/>
          </a:xfrm>
          <a:prstGeom prst="roundRect">
            <a:avLst>
              <a:gd name="adj" fmla="val 6000"/>
            </a:avLst>
          </a:prstGeom>
          <a:solidFill>
            <a:srgbClr val="EEF6F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39" name="Rounded Rectangle 163"/>
          <p:cNvSpPr/>
          <p:nvPr/>
        </p:nvSpPr>
        <p:spPr>
          <a:xfrm>
            <a:off x="6537960" y="4316040"/>
            <a:ext cx="127800" cy="127800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Box 164"/>
          <p:cNvSpPr/>
          <p:nvPr/>
        </p:nvSpPr>
        <p:spPr>
          <a:xfrm>
            <a:off x="6784920" y="4206240"/>
            <a:ext cx="42973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14142B"/>
                </a:solidFill>
                <a:effectLst/>
                <a:uFillTx/>
                <a:latin typeface="Calibri"/>
                <a:ea typeface="Arial"/>
              </a:rPr>
              <a:t>A real systems contribution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Box 165"/>
          <p:cNvSpPr/>
          <p:nvPr/>
        </p:nvSpPr>
        <p:spPr>
          <a:xfrm>
            <a:off x="6537960" y="4681800"/>
            <a:ext cx="456264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15000"/>
              </a:lnSpc>
            </a:pPr>
            <a:r>
              <a:rPr lang="en-US" sz="1150" b="0" u="none" strike="noStrike">
                <a:solidFill>
                  <a:srgbClr val="63637E"/>
                </a:solidFill>
                <a:effectLst/>
                <a:uFillTx/>
                <a:latin typeface="Calibri"/>
                <a:ea typeface="Arial"/>
              </a:rPr>
              <a:t>Content-addressed caching turns “index every commit” from O(commits × code) into O(distinct code) — not just a modelling tweak.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l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1" u="none" strike="noStrike">
                <a:solidFill>
                  <a:srgbClr val="704EA6"/>
                </a:solidFill>
                <a:effectLst/>
                <a:uFillTx/>
                <a:latin typeface="Calibri"/>
                <a:ea typeface="Calibri"/>
              </a:rPr>
              <a:t>Checklist- Updated on Public GitHub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177840" indent="-177840" algn="l">
              <a:lnSpc>
                <a:spcPct val="90000"/>
              </a:lnSpc>
              <a:buClr>
                <a:srgbClr val="63637E"/>
              </a:buClr>
              <a:buFont typeface="Arial"/>
              <a:buChar char="•"/>
            </a:pPr>
            <a:r>
              <a:rPr lang="en-US" sz="2800" b="0" u="none" strike="noStrike">
                <a:solidFill>
                  <a:srgbClr val="63637E"/>
                </a:solidFill>
                <a:effectLst/>
                <a:uFillTx/>
                <a:latin typeface="Calibri"/>
                <a:ea typeface="Calibri"/>
              </a:rPr>
              <a:t>Working prototype code — public or shared GitHub repo (Y)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algn="l">
              <a:lnSpc>
                <a:spcPct val="90000"/>
              </a:lnSpc>
              <a:spcBef>
                <a:spcPts val="1500"/>
              </a:spcBef>
              <a:buClr>
                <a:srgbClr val="63637E"/>
              </a:buClr>
              <a:buFont typeface="Arial"/>
              <a:buChar char="•"/>
            </a:pPr>
            <a:r>
              <a:rPr lang="en-US" sz="2800" b="0" u="none" strike="noStrike">
                <a:solidFill>
                  <a:srgbClr val="63637E"/>
                </a:solidFill>
                <a:effectLst/>
                <a:uFillTx/>
                <a:latin typeface="Calibri"/>
                <a:ea typeface="Calibri"/>
              </a:rPr>
              <a:t>README with reproducible setup instructions (Y)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algn="l">
              <a:lnSpc>
                <a:spcPct val="90000"/>
              </a:lnSpc>
              <a:spcBef>
                <a:spcPts val="1500"/>
              </a:spcBef>
              <a:buClr>
                <a:srgbClr val="63637E"/>
              </a:buClr>
              <a:buFont typeface="Arial"/>
              <a:buChar char="•"/>
            </a:pPr>
            <a:r>
              <a:rPr lang="en-US" sz="2800" b="0" u="none" strike="noStrike">
                <a:solidFill>
                  <a:srgbClr val="63637E"/>
                </a:solidFill>
                <a:effectLst/>
                <a:uFillTx/>
                <a:latin typeface="Calibri"/>
                <a:ea typeface="Calibri"/>
              </a:rPr>
              <a:t>Demo video, max 5 minutes (YouTube or Drive link)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algn="l">
              <a:lnSpc>
                <a:spcPct val="90000"/>
              </a:lnSpc>
              <a:spcBef>
                <a:spcPts val="1500"/>
              </a:spcBef>
              <a:buClr>
                <a:srgbClr val="63637E"/>
              </a:buClr>
              <a:buFont typeface="Arial"/>
              <a:buChar char="•"/>
            </a:pPr>
            <a:r>
              <a:rPr lang="en-US" sz="2800" b="0" u="none" strike="noStrike">
                <a:solidFill>
                  <a:srgbClr val="63637E"/>
                </a:solidFill>
                <a:effectLst/>
                <a:uFillTx/>
                <a:latin typeface="Calibri"/>
                <a:ea typeface="Calibri"/>
              </a:rPr>
              <a:t>Presentation file (PPT or PDF) (Y)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90000"/>
              </a:lnSpc>
              <a:spcBef>
                <a:spcPts val="1500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162;p12"/>
          <p:cNvSpPr/>
          <p:nvPr/>
        </p:nvSpPr>
        <p:spPr>
          <a:xfrm>
            <a:off x="1046160" y="3730320"/>
            <a:ext cx="676620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600" b="1" u="none" strike="noStrike">
                <a:solidFill>
                  <a:srgbClr val="14142B"/>
                </a:solidFill>
                <a:effectLst/>
                <a:uFillTx/>
                <a:latin typeface="Arial"/>
                <a:ea typeface="Arial"/>
              </a:rPr>
              <a:t>Thank you</a:t>
            </a:r>
            <a:endParaRPr lang="en-US" sz="4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Google Shape;163;p12"/>
          <p:cNvSpPr/>
          <p:nvPr/>
        </p:nvSpPr>
        <p:spPr>
          <a:xfrm>
            <a:off x="777240" y="5897880"/>
            <a:ext cx="106066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3637E"/>
                </a:solidFill>
                <a:effectLst/>
                <a:uFillTx/>
                <a:latin typeface="Calibri"/>
                <a:ea typeface="Calibri"/>
              </a:rPr>
              <a:t>Organised by the Language AI Team and the PRISM Team, Samsung R&amp;D Institute India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LibreOffice/26.8.0.3$Linux_X86_64 LibreOffice_project/680$Build-3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2026-09-07T12:01:01Z</dcterms:created>
  <dc:creator>Binny Lakra/PRISM /SRI-Bangalore/Professional/Samsung Electronics</dc:creator>
  <dc:description/>
  <dc:language>en-US</dc:language>
  <cp:lastModifiedBy/>
  <dcterms:modified xsi:type="dcterms:W3CDTF">2026-10-01T01:07:23Z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